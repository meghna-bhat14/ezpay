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6"/>
    <p:sldMasterId id="214748369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Roboto Thin"/>
      <p:regular r:id="rId31"/>
      <p:bold r:id="rId32"/>
      <p:italic r:id="rId33"/>
      <p:boldItalic r:id="rId34"/>
    </p:embeddedFont>
    <p:embeddedFont>
      <p:font typeface="Roboto"/>
      <p:regular r:id="rId35"/>
      <p:bold r:id="rId36"/>
      <p:italic r:id="rId37"/>
      <p:boldItalic r:id="rId38"/>
    </p:embeddedFont>
    <p:embeddedFont>
      <p:font typeface="Roboto Medium"/>
      <p:regular r:id="rId39"/>
      <p:bold r:id="rId40"/>
      <p:italic r:id="rId41"/>
      <p:boldItalic r:id="rId42"/>
    </p:embeddedFont>
    <p:embeddedFont>
      <p:font typeface="Corbel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41098E-5105-44D5-8BBC-460F06042A0C}">
  <a:tblStyle styleId="{E741098E-5105-44D5-8BBC-460F06042A0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2E33D48-5917-4589-B26D-C9F068CA7E0E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8E8"/>
          </a:solidFill>
        </a:fill>
      </a:tcStyle>
    </a:wholeTbl>
    <a:band1H>
      <a:tcTxStyle b="off" i="off"/>
      <a:tcStyle>
        <a:fill>
          <a:solidFill>
            <a:srgbClr val="CDCDC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CDCD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.fntdata"/><Relationship Id="rId20" Type="http://schemas.openxmlformats.org/officeDocument/2006/relationships/slide" Target="slides/slide12.xml"/><Relationship Id="rId42" Type="http://schemas.openxmlformats.org/officeDocument/2006/relationships/font" Target="fonts/RobotoMedium-boldItalic.fntdata"/><Relationship Id="rId41" Type="http://schemas.openxmlformats.org/officeDocument/2006/relationships/font" Target="fonts/RobotoMedium-italic.fntdata"/><Relationship Id="rId22" Type="http://schemas.openxmlformats.org/officeDocument/2006/relationships/slide" Target="slides/slide14.xml"/><Relationship Id="rId44" Type="http://schemas.openxmlformats.org/officeDocument/2006/relationships/font" Target="fonts/Corbel-bold.fntdata"/><Relationship Id="rId21" Type="http://schemas.openxmlformats.org/officeDocument/2006/relationships/slide" Target="slides/slide13.xml"/><Relationship Id="rId43" Type="http://schemas.openxmlformats.org/officeDocument/2006/relationships/font" Target="fonts/Corbel-regular.fntdata"/><Relationship Id="rId24" Type="http://schemas.openxmlformats.org/officeDocument/2006/relationships/slide" Target="slides/slide16.xml"/><Relationship Id="rId46" Type="http://schemas.openxmlformats.org/officeDocument/2006/relationships/font" Target="fonts/Corbel-boldItalic.fntdata"/><Relationship Id="rId23" Type="http://schemas.openxmlformats.org/officeDocument/2006/relationships/slide" Target="slides/slide15.xml"/><Relationship Id="rId45" Type="http://schemas.openxmlformats.org/officeDocument/2006/relationships/font" Target="fonts/Corbel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31" Type="http://schemas.openxmlformats.org/officeDocument/2006/relationships/font" Target="fonts/RobotoThin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RobotoThin-italic.fntdata"/><Relationship Id="rId10" Type="http://schemas.openxmlformats.org/officeDocument/2006/relationships/slide" Target="slides/slide2.xml"/><Relationship Id="rId32" Type="http://schemas.openxmlformats.org/officeDocument/2006/relationships/font" Target="fonts/RobotoThin-bold.fntdata"/><Relationship Id="rId13" Type="http://schemas.openxmlformats.org/officeDocument/2006/relationships/slide" Target="slides/slide5.xml"/><Relationship Id="rId35" Type="http://schemas.openxmlformats.org/officeDocument/2006/relationships/font" Target="fonts/Roboto-regular.fntdata"/><Relationship Id="rId12" Type="http://schemas.openxmlformats.org/officeDocument/2006/relationships/slide" Target="slides/slide4.xml"/><Relationship Id="rId34" Type="http://schemas.openxmlformats.org/officeDocument/2006/relationships/font" Target="fonts/RobotoThin-boldItalic.fntdata"/><Relationship Id="rId15" Type="http://schemas.openxmlformats.org/officeDocument/2006/relationships/slide" Target="slides/slide7.xml"/><Relationship Id="rId37" Type="http://schemas.openxmlformats.org/officeDocument/2006/relationships/font" Target="fonts/Roboto-italic.fntdata"/><Relationship Id="rId14" Type="http://schemas.openxmlformats.org/officeDocument/2006/relationships/slide" Target="slides/slide6.xml"/><Relationship Id="rId36" Type="http://schemas.openxmlformats.org/officeDocument/2006/relationships/font" Target="fonts/Roboto-bold.fntdata"/><Relationship Id="rId17" Type="http://schemas.openxmlformats.org/officeDocument/2006/relationships/slide" Target="slides/slide9.xml"/><Relationship Id="rId39" Type="http://schemas.openxmlformats.org/officeDocument/2006/relationships/font" Target="fonts/RobotoMedium-regular.fntdata"/><Relationship Id="rId16" Type="http://schemas.openxmlformats.org/officeDocument/2006/relationships/slide" Target="slides/slide8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9-29T10:55:40.194">
    <p:pos x="6000" y="0"/>
    <p:text>till here person 1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09-29T10:56:20.869">
    <p:pos x="6000" y="0"/>
    <p:text>till here person 2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09-29T10:59:10.599">
    <p:pos x="6000" y="0"/>
    <p:text>till here person 3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4-09-29T11:00:02.357">
    <p:pos x="6000" y="0"/>
    <p:text>person 4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4-09-29T10:28:47.970">
    <p:pos x="6000" y="0"/>
    <p:text>To ask maam if we need to write cicd pipeline here or not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8a685e1b4_0_9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2f8a685e1b4_0_9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Hello everyone! Welcome to the video session on Ways to Analyze Data.</a:t>
            </a:r>
            <a:endParaRPr/>
          </a:p>
        </p:txBody>
      </p:sp>
      <p:sp>
        <p:nvSpPr>
          <p:cNvPr id="346" name="Google Shape;346;g2f8a685e1b4_0_9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f8a685e1b4_0_9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2f8a685e1b4_0_9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Add the respective deck Module /chapter details and its description</a:t>
            </a:r>
            <a:endParaRPr/>
          </a:p>
        </p:txBody>
      </p:sp>
      <p:sp>
        <p:nvSpPr>
          <p:cNvPr id="356" name="Google Shape;356;g2f8a685e1b4_0_9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06895712ff_1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06895712ff_1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You can add any number of rows here in this table to fill all topic names for respective deck topics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g306895712ff_1_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a685e1b4_0_9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2f8a685e1b4_0_9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2f8a685e1b4_0_9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f8a685e1b4_0_9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2f8a685e1b4_0_9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g2f8a685e1b4_0_9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06895712ff_4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06895712ff_4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06895712ff_4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06895712ff_1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06895712ff_1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06895712ff_1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f8a685e1b4_0_10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2f8a685e1b4_0_10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g2f8a685e1b4_0_10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f8a685e1b4_0_10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g2f8a685e1b4_0_10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2" name="Google Shape;542;g2f8a685e1b4_0_10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f8a685e1b4_0_10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2f8a685e1b4_0_10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2f8a685e1b4_0_10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f8a685e1b4_0_10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2f8a685e1b4_0_10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g2f8a685e1b4_0_10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f8a685e1b4_0_1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2f8a685e1b4_0_1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2f8a685e1b4_0_1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f8a685e1b4_0_1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2f8a685e1b4_0_1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g2f8a685e1b4_0_1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f8a685e1b4_0_1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2f8a685e1b4_0_1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g2f8a685e1b4_0_1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f8a685e1b4_0_1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2f8a685e1b4_0_1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2f8a685e1b4_0_1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f8a685e1b4_0_1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g2f8a685e1b4_0_1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2f8a685e1b4_0_1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8a685e1b4_0_1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2f8a685e1b4_0_1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2" name="Google Shape;742;g2f8a685e1b4_0_1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f8a685e1b4_0_1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g2f8a685e1b4_0_1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g2f8a685e1b4_0_1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f8a685e1b4_0_1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g2f8a685e1b4_0_1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2f8a685e1b4_0_1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f8a685e1b4_0_1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2f8a685e1b4_0_1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Content Slide with Side bar, content and Image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g2f8a685e1b4_0_12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f8a685e1b4_0_1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g2f8a685e1b4_0_1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f8a685e1b4_0_13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g2f8a685e1b4_0_13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8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ourse Opening Slid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2325762" y="470263"/>
            <a:ext cx="4245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6927925" y="4562600"/>
            <a:ext cx="13047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A picture containing icon&#10;&#10;Description automatically generated"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4615" y="4730368"/>
            <a:ext cx="1304657" cy="359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4"/>
          <p:cNvSpPr/>
          <p:nvPr>
            <p:ph idx="2" type="pic"/>
          </p:nvPr>
        </p:nvSpPr>
        <p:spPr>
          <a:xfrm>
            <a:off x="991790" y="1707459"/>
            <a:ext cx="7617600" cy="249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Opening Slide">
  <p:cSld name="Chapter Opening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229871" y="2171462"/>
            <a:ext cx="6864900" cy="25173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275740" y="1203622"/>
            <a:ext cx="43164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>
                <a:solidFill>
                  <a:srgbClr val="18181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3" type="body"/>
          </p:nvPr>
        </p:nvSpPr>
        <p:spPr>
          <a:xfrm>
            <a:off x="607441" y="198479"/>
            <a:ext cx="81096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2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2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2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2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1_Table of conten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/>
        </p:nvSpPr>
        <p:spPr>
          <a:xfrm>
            <a:off x="142406" y="142408"/>
            <a:ext cx="4291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Topic Coverage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69" name="Google Shape;69;p16"/>
          <p:cNvGraphicFramePr/>
          <p:nvPr/>
        </p:nvGraphicFramePr>
        <p:xfrm>
          <a:off x="457586" y="824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{E741098E-5105-44D5-8BBC-460F06042A0C}</a:tableStyleId>
              </a:tblPr>
              <a:tblGrid>
                <a:gridCol w="735125"/>
                <a:gridCol w="2862475"/>
              </a:tblGrid>
              <a:tr h="37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S.no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name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</a:tr>
            </a:tbl>
          </a:graphicData>
        </a:graphic>
      </p:graphicFrame>
      <p:pic>
        <p:nvPicPr>
          <p:cNvPr descr="A picture containing toothbrush&#10;&#10;Description automatically generated" id="70" name="Google Shape;7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7239" y="1970321"/>
            <a:ext cx="3108828" cy="235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Text Only">
  <p:cSld name="1_Content with Text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112710" y="-10994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>
                <a:solidFill>
                  <a:srgbClr val="18181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2221396" y="896750"/>
            <a:ext cx="65004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⮚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3" type="body"/>
          </p:nvPr>
        </p:nvSpPr>
        <p:spPr>
          <a:xfrm>
            <a:off x="125897" y="692394"/>
            <a:ext cx="13710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i="0" sz="9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18181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18181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18181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18181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/>
          <p:nvPr/>
        </p:nvSpPr>
        <p:spPr>
          <a:xfrm>
            <a:off x="112709" y="692393"/>
            <a:ext cx="1404000" cy="36807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4F6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Text Only">
  <p:cSld name="Content with Text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112710" y="-10994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>
                <a:solidFill>
                  <a:srgbClr val="18181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2" type="body"/>
          </p:nvPr>
        </p:nvSpPr>
        <p:spPr>
          <a:xfrm>
            <a:off x="391886" y="896750"/>
            <a:ext cx="83298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⮚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/>
        </p:nvSpPr>
        <p:spPr>
          <a:xfrm>
            <a:off x="142406" y="142408"/>
            <a:ext cx="4291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Module Duration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84" name="Google Shape;84;p19"/>
          <p:cNvGraphicFramePr/>
          <p:nvPr/>
        </p:nvGraphicFramePr>
        <p:xfrm>
          <a:off x="457586" y="824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{E741098E-5105-44D5-8BBC-460F06042A0C}</a:tableStyleId>
              </a:tblPr>
              <a:tblGrid>
                <a:gridCol w="694850"/>
                <a:gridCol w="2902725"/>
                <a:gridCol w="1608250"/>
              </a:tblGrid>
              <a:tr h="37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S.no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name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</a:tr>
            </a:tbl>
          </a:graphicData>
        </a:graphic>
      </p:graphicFrame>
      <p:pic>
        <p:nvPicPr>
          <p:cNvPr descr="A picture containing toothbrush&#10;&#10;Description automatically generated" id="85" name="Google Shape;8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7239" y="1970321"/>
            <a:ext cx="3108828" cy="235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1_Table of contents 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/>
        </p:nvSpPr>
        <p:spPr>
          <a:xfrm>
            <a:off x="142406" y="142408"/>
            <a:ext cx="4291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Table of Contents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89" name="Google Shape;89;p20"/>
          <p:cNvGraphicFramePr/>
          <p:nvPr/>
        </p:nvGraphicFramePr>
        <p:xfrm>
          <a:off x="457586" y="824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{E741098E-5105-44D5-8BBC-460F06042A0C}</a:tableStyleId>
              </a:tblPr>
              <a:tblGrid>
                <a:gridCol w="852400"/>
                <a:gridCol w="2044475"/>
                <a:gridCol w="1274700"/>
              </a:tblGrid>
              <a:tr h="37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S.no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name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 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</a:tr>
            </a:tbl>
          </a:graphicData>
        </a:graphic>
      </p:graphicFrame>
      <p:pic>
        <p:nvPicPr>
          <p:cNvPr descr="A picture containing toothbrush&#10;&#10;Description automatically generated" id="90" name="Google Shape;9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3966" y="1769053"/>
            <a:ext cx="3108828" cy="23538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0"/>
          <p:cNvSpPr txBox="1"/>
          <p:nvPr/>
        </p:nvSpPr>
        <p:spPr>
          <a:xfrm flipH="1">
            <a:off x="3447600" y="361698"/>
            <a:ext cx="112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dule Objectives_Slide">
  <p:cSld name="Module Objectives_Slid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-17718" y="67455"/>
            <a:ext cx="336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1"/>
          <p:cNvSpPr txBox="1"/>
          <p:nvPr/>
        </p:nvSpPr>
        <p:spPr>
          <a:xfrm>
            <a:off x="0" y="614598"/>
            <a:ext cx="507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On completing this module, the learner will be able to:</a:t>
            </a:r>
            <a:endParaRPr b="1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8391518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96" name="Google Shape;96;p21"/>
          <p:cNvGrpSpPr/>
          <p:nvPr/>
        </p:nvGrpSpPr>
        <p:grpSpPr>
          <a:xfrm>
            <a:off x="1139629" y="1631157"/>
            <a:ext cx="6089410" cy="2073652"/>
            <a:chOff x="1519506" y="2174876"/>
            <a:chExt cx="8119213" cy="2764870"/>
          </a:xfrm>
        </p:grpSpPr>
        <p:pic>
          <p:nvPicPr>
            <p:cNvPr descr="Graphical user interface, text&#10;&#10;Description automatically generated" id="97" name="Google Shape;97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19506" y="2174876"/>
              <a:ext cx="4147303" cy="27648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21"/>
            <p:cNvSpPr/>
            <p:nvPr/>
          </p:nvSpPr>
          <p:spPr>
            <a:xfrm rot="-206533">
              <a:off x="6234873" y="3296940"/>
              <a:ext cx="407526" cy="520673"/>
            </a:xfrm>
            <a:custGeom>
              <a:rect b="b" l="l" r="r" t="t"/>
              <a:pathLst>
                <a:path extrusionOk="0" h="521036" w="407810">
                  <a:moveTo>
                    <a:pt x="0" y="104207"/>
                  </a:moveTo>
                  <a:lnTo>
                    <a:pt x="203905" y="104207"/>
                  </a:lnTo>
                  <a:lnTo>
                    <a:pt x="203905" y="0"/>
                  </a:lnTo>
                  <a:lnTo>
                    <a:pt x="407810" y="260518"/>
                  </a:lnTo>
                  <a:lnTo>
                    <a:pt x="203905" y="521036"/>
                  </a:lnTo>
                  <a:lnTo>
                    <a:pt x="203905" y="416829"/>
                  </a:lnTo>
                  <a:lnTo>
                    <a:pt x="0" y="416829"/>
                  </a:lnTo>
                  <a:lnTo>
                    <a:pt x="0" y="104207"/>
                  </a:lnTo>
                  <a:close/>
                </a:path>
              </a:pathLst>
            </a:custGeom>
            <a:gradFill>
              <a:gsLst>
                <a:gs pos="0">
                  <a:srgbClr val="D9D9DF"/>
                </a:gs>
                <a:gs pos="35000">
                  <a:srgbClr val="E4E4E6"/>
                </a:gs>
                <a:gs pos="100000">
                  <a:srgbClr val="F5F5F5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78150" lIns="0" spcFirstLastPara="1" rIns="91750" wrap="square" tIns="78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7211078" y="2343355"/>
              <a:ext cx="2427641" cy="2427641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5776781" y="235476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odule Objectives_Slide">
  <p:cSld name="1_Module Objectives_Slid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/>
        </p:nvSpPr>
        <p:spPr>
          <a:xfrm>
            <a:off x="-17718" y="67455"/>
            <a:ext cx="336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 txBox="1"/>
          <p:nvPr/>
        </p:nvSpPr>
        <p:spPr>
          <a:xfrm>
            <a:off x="0" y="614598"/>
            <a:ext cx="507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On completing this module, the learner will be able to:</a:t>
            </a:r>
            <a:endParaRPr b="1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8391518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05" name="Google Shape;105;p22"/>
          <p:cNvGrpSpPr/>
          <p:nvPr/>
        </p:nvGrpSpPr>
        <p:grpSpPr>
          <a:xfrm>
            <a:off x="836096" y="1447765"/>
            <a:ext cx="7471610" cy="2130482"/>
            <a:chOff x="1114794" y="1930354"/>
            <a:chExt cx="9962146" cy="2840642"/>
          </a:xfrm>
        </p:grpSpPr>
        <p:sp>
          <p:nvSpPr>
            <p:cNvPr id="106" name="Google Shape;106;p22"/>
            <p:cNvSpPr/>
            <p:nvPr/>
          </p:nvSpPr>
          <p:spPr>
            <a:xfrm>
              <a:off x="1114794" y="2343355"/>
              <a:ext cx="2427641" cy="2427641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Graphical user interface, text&#10;&#10;Description automatically generated" id="107" name="Google Shape;107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4026905" y="1930354"/>
              <a:ext cx="4099311" cy="273287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" name="Google Shape;108;p22"/>
            <p:cNvGrpSpPr/>
            <p:nvPr/>
          </p:nvGrpSpPr>
          <p:grpSpPr>
            <a:xfrm>
              <a:off x="3662010" y="3212292"/>
              <a:ext cx="4832150" cy="605534"/>
              <a:chOff x="3662010" y="3212292"/>
              <a:chExt cx="4832150" cy="605534"/>
            </a:xfrm>
          </p:grpSpPr>
          <p:sp>
            <p:nvSpPr>
              <p:cNvPr id="109" name="Google Shape;109;p22"/>
              <p:cNvSpPr/>
              <p:nvPr/>
            </p:nvSpPr>
            <p:spPr>
              <a:xfrm>
                <a:off x="8086350" y="3212292"/>
                <a:ext cx="407810" cy="521036"/>
              </a:xfrm>
              <a:custGeom>
                <a:rect b="b" l="l" r="r" t="t"/>
                <a:pathLst>
                  <a:path extrusionOk="0" h="521036" w="407810">
                    <a:moveTo>
                      <a:pt x="0" y="104207"/>
                    </a:moveTo>
                    <a:lnTo>
                      <a:pt x="203905" y="104207"/>
                    </a:lnTo>
                    <a:lnTo>
                      <a:pt x="203905" y="0"/>
                    </a:lnTo>
                    <a:lnTo>
                      <a:pt x="407810" y="260518"/>
                    </a:lnTo>
                    <a:lnTo>
                      <a:pt x="203905" y="521036"/>
                    </a:lnTo>
                    <a:lnTo>
                      <a:pt x="203905" y="416829"/>
                    </a:lnTo>
                    <a:lnTo>
                      <a:pt x="0" y="416829"/>
                    </a:lnTo>
                    <a:lnTo>
                      <a:pt x="0" y="104207"/>
                    </a:lnTo>
                    <a:close/>
                  </a:path>
                </a:pathLst>
              </a:custGeom>
              <a:gradFill>
                <a:gsLst>
                  <a:gs pos="0">
                    <a:srgbClr val="D9D9DF"/>
                  </a:gs>
                  <a:gs pos="35000">
                    <a:srgbClr val="E4E4E6"/>
                  </a:gs>
                  <a:gs pos="100000">
                    <a:srgbClr val="F5F5F5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78150" lIns="0" spcFirstLastPara="1" rIns="91750" wrap="square" tIns="781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2"/>
              <p:cNvSpPr/>
              <p:nvPr/>
            </p:nvSpPr>
            <p:spPr>
              <a:xfrm>
                <a:off x="3662010" y="3296790"/>
                <a:ext cx="409631" cy="521036"/>
              </a:xfrm>
              <a:custGeom>
                <a:rect b="b" l="l" r="r" t="t"/>
                <a:pathLst>
                  <a:path extrusionOk="0" h="521036" w="409631">
                    <a:moveTo>
                      <a:pt x="0" y="104207"/>
                    </a:moveTo>
                    <a:lnTo>
                      <a:pt x="204816" y="104207"/>
                    </a:lnTo>
                    <a:lnTo>
                      <a:pt x="204816" y="0"/>
                    </a:lnTo>
                    <a:lnTo>
                      <a:pt x="409631" y="260518"/>
                    </a:lnTo>
                    <a:lnTo>
                      <a:pt x="204816" y="521036"/>
                    </a:lnTo>
                    <a:lnTo>
                      <a:pt x="204816" y="416829"/>
                    </a:lnTo>
                    <a:lnTo>
                      <a:pt x="0" y="416829"/>
                    </a:lnTo>
                    <a:lnTo>
                      <a:pt x="0" y="104207"/>
                    </a:lnTo>
                    <a:close/>
                  </a:path>
                </a:pathLst>
              </a:custGeom>
              <a:gradFill>
                <a:gsLst>
                  <a:gs pos="0">
                    <a:srgbClr val="D9D9DF"/>
                  </a:gs>
                  <a:gs pos="35000">
                    <a:srgbClr val="E4E4E6"/>
                  </a:gs>
                  <a:gs pos="100000">
                    <a:srgbClr val="F5F5F5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78150" lIns="0" spcFirstLastPara="1" rIns="92150" wrap="square" tIns="781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" name="Google Shape;111;p22"/>
            <p:cNvSpPr/>
            <p:nvPr/>
          </p:nvSpPr>
          <p:spPr>
            <a:xfrm>
              <a:off x="8649299" y="2343355"/>
              <a:ext cx="2427641" cy="2427641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6851731" y="2409219"/>
            <a:ext cx="1084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2" type="body"/>
          </p:nvPr>
        </p:nvSpPr>
        <p:spPr>
          <a:xfrm>
            <a:off x="1199247" y="2409219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Module Objectives_Slide">
  <p:cSld name="3_Module Objectives_Slid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3"/>
          <p:cNvGrpSpPr/>
          <p:nvPr/>
        </p:nvGrpSpPr>
        <p:grpSpPr>
          <a:xfrm>
            <a:off x="1514119" y="991487"/>
            <a:ext cx="5857643" cy="3755780"/>
            <a:chOff x="2018825" y="1321983"/>
            <a:chExt cx="7810191" cy="5007706"/>
          </a:xfrm>
        </p:grpSpPr>
        <p:pic>
          <p:nvPicPr>
            <p:cNvPr descr="Graphical user interface, text&#10;&#10;Description automatically generated" id="116" name="Google Shape;116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896682" y="3107141"/>
              <a:ext cx="3885025" cy="25900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23"/>
            <p:cNvSpPr/>
            <p:nvPr/>
          </p:nvSpPr>
          <p:spPr>
            <a:xfrm rot="2126268">
              <a:off x="7567466" y="2725079"/>
              <a:ext cx="407937" cy="521199"/>
            </a:xfrm>
            <a:custGeom>
              <a:rect b="b" l="l" r="r" t="t"/>
              <a:pathLst>
                <a:path extrusionOk="0" h="521036" w="407810">
                  <a:moveTo>
                    <a:pt x="0" y="104207"/>
                  </a:moveTo>
                  <a:lnTo>
                    <a:pt x="203905" y="104207"/>
                  </a:lnTo>
                  <a:lnTo>
                    <a:pt x="203905" y="0"/>
                  </a:lnTo>
                  <a:lnTo>
                    <a:pt x="407810" y="260518"/>
                  </a:lnTo>
                  <a:lnTo>
                    <a:pt x="203905" y="521036"/>
                  </a:lnTo>
                  <a:lnTo>
                    <a:pt x="203905" y="416829"/>
                  </a:lnTo>
                  <a:lnTo>
                    <a:pt x="0" y="416829"/>
                  </a:lnTo>
                  <a:lnTo>
                    <a:pt x="0" y="104207"/>
                  </a:lnTo>
                  <a:close/>
                </a:path>
              </a:pathLst>
            </a:custGeom>
            <a:gradFill>
              <a:gsLst>
                <a:gs pos="0">
                  <a:srgbClr val="D9D9DF"/>
                </a:gs>
                <a:gs pos="35000">
                  <a:srgbClr val="E4E4E6"/>
                </a:gs>
                <a:gs pos="100000">
                  <a:srgbClr val="F5F5F5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78150" lIns="0" spcFirstLastPara="1" rIns="91750" wrap="square" tIns="78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3"/>
            <p:cNvSpPr/>
            <p:nvPr/>
          </p:nvSpPr>
          <p:spPr>
            <a:xfrm>
              <a:off x="7961006" y="3191155"/>
              <a:ext cx="1868010" cy="1868010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3"/>
            <p:cNvSpPr/>
            <p:nvPr/>
          </p:nvSpPr>
          <p:spPr>
            <a:xfrm rot="-2157222">
              <a:off x="3942476" y="2499409"/>
              <a:ext cx="409888" cy="521363"/>
            </a:xfrm>
            <a:custGeom>
              <a:rect b="b" l="l" r="r" t="t"/>
              <a:pathLst>
                <a:path extrusionOk="0" h="521036" w="409631">
                  <a:moveTo>
                    <a:pt x="0" y="104207"/>
                  </a:moveTo>
                  <a:lnTo>
                    <a:pt x="204816" y="104207"/>
                  </a:lnTo>
                  <a:lnTo>
                    <a:pt x="204816" y="0"/>
                  </a:lnTo>
                  <a:lnTo>
                    <a:pt x="409631" y="260518"/>
                  </a:lnTo>
                  <a:lnTo>
                    <a:pt x="204816" y="521036"/>
                  </a:lnTo>
                  <a:lnTo>
                    <a:pt x="204816" y="416829"/>
                  </a:lnTo>
                  <a:lnTo>
                    <a:pt x="0" y="416829"/>
                  </a:lnTo>
                  <a:lnTo>
                    <a:pt x="0" y="104207"/>
                  </a:lnTo>
                  <a:close/>
                </a:path>
              </a:pathLst>
            </a:custGeom>
            <a:gradFill>
              <a:gsLst>
                <a:gs pos="0">
                  <a:srgbClr val="D9D9DF"/>
                </a:gs>
                <a:gs pos="35000">
                  <a:srgbClr val="E4E4E6"/>
                </a:gs>
                <a:gs pos="100000">
                  <a:srgbClr val="F5F5F5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78150" lIns="0" spcFirstLastPara="1" rIns="92150" wrap="square" tIns="78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3"/>
            <p:cNvSpPr/>
            <p:nvPr/>
          </p:nvSpPr>
          <p:spPr>
            <a:xfrm>
              <a:off x="5025463" y="1321983"/>
              <a:ext cx="1868010" cy="1868010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3"/>
            <p:cNvSpPr/>
            <p:nvPr/>
          </p:nvSpPr>
          <p:spPr>
            <a:xfrm>
              <a:off x="2018825" y="3429000"/>
              <a:ext cx="1868010" cy="1868010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3"/>
            <p:cNvSpPr/>
            <p:nvPr/>
          </p:nvSpPr>
          <p:spPr>
            <a:xfrm flipH="1">
              <a:off x="5688190" y="5808653"/>
              <a:ext cx="407810" cy="521036"/>
            </a:xfrm>
            <a:custGeom>
              <a:rect b="b" l="l" r="r" t="t"/>
              <a:pathLst>
                <a:path extrusionOk="0" h="521036" w="407810">
                  <a:moveTo>
                    <a:pt x="0" y="104207"/>
                  </a:moveTo>
                  <a:lnTo>
                    <a:pt x="203905" y="104207"/>
                  </a:lnTo>
                  <a:lnTo>
                    <a:pt x="203905" y="0"/>
                  </a:lnTo>
                  <a:lnTo>
                    <a:pt x="407810" y="260518"/>
                  </a:lnTo>
                  <a:lnTo>
                    <a:pt x="203905" y="521036"/>
                  </a:lnTo>
                  <a:lnTo>
                    <a:pt x="203905" y="416829"/>
                  </a:lnTo>
                  <a:lnTo>
                    <a:pt x="0" y="416829"/>
                  </a:lnTo>
                  <a:lnTo>
                    <a:pt x="0" y="104207"/>
                  </a:lnTo>
                  <a:close/>
                </a:path>
              </a:pathLst>
            </a:custGeom>
            <a:gradFill>
              <a:gsLst>
                <a:gs pos="0">
                  <a:srgbClr val="D9D9DF"/>
                </a:gs>
                <a:gs pos="35000">
                  <a:srgbClr val="E4E4E6"/>
                </a:gs>
                <a:gs pos="100000">
                  <a:srgbClr val="F5F5F5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78150" lIns="0" spcFirstLastPara="1" rIns="91750" wrap="square" tIns="78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3"/>
          <p:cNvSpPr txBox="1"/>
          <p:nvPr/>
        </p:nvSpPr>
        <p:spPr>
          <a:xfrm>
            <a:off x="-17718" y="67455"/>
            <a:ext cx="336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0" y="614598"/>
            <a:ext cx="507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On completing this module, the learner will be able to:</a:t>
            </a:r>
            <a:endParaRPr b="1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391518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6129701" y="2835543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3928043" y="1433664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3" type="body"/>
          </p:nvPr>
        </p:nvSpPr>
        <p:spPr>
          <a:xfrm>
            <a:off x="1673065" y="3013927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Module Objectives_Slide">
  <p:cSld name="4_Module Objectives_Slid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24"/>
          <p:cNvGrpSpPr/>
          <p:nvPr/>
        </p:nvGrpSpPr>
        <p:grpSpPr>
          <a:xfrm>
            <a:off x="2212864" y="1086437"/>
            <a:ext cx="4743976" cy="3959683"/>
            <a:chOff x="2950485" y="1448583"/>
            <a:chExt cx="6325301" cy="5279577"/>
          </a:xfrm>
        </p:grpSpPr>
        <p:pic>
          <p:nvPicPr>
            <p:cNvPr descr="Graphical user interface, text&#10;&#10;Description automatically generated" id="131" name="Google Shape;131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4233633" y="2640747"/>
              <a:ext cx="3597582" cy="23983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24"/>
            <p:cNvSpPr/>
            <p:nvPr/>
          </p:nvSpPr>
          <p:spPr>
            <a:xfrm rot="-4315661">
              <a:off x="8060067" y="3968401"/>
              <a:ext cx="420615" cy="520671"/>
            </a:xfrm>
            <a:custGeom>
              <a:rect b="b" l="l" r="r" t="t"/>
              <a:pathLst>
                <a:path extrusionOk="0" h="521036" w="420910">
                  <a:moveTo>
                    <a:pt x="420910" y="416829"/>
                  </a:moveTo>
                  <a:lnTo>
                    <a:pt x="210455" y="416829"/>
                  </a:lnTo>
                  <a:lnTo>
                    <a:pt x="210455" y="521036"/>
                  </a:lnTo>
                  <a:lnTo>
                    <a:pt x="0" y="260518"/>
                  </a:lnTo>
                  <a:lnTo>
                    <a:pt x="210455" y="0"/>
                  </a:lnTo>
                  <a:lnTo>
                    <a:pt x="210455" y="104207"/>
                  </a:lnTo>
                  <a:lnTo>
                    <a:pt x="420910" y="104207"/>
                  </a:lnTo>
                  <a:lnTo>
                    <a:pt x="420910" y="416829"/>
                  </a:lnTo>
                  <a:close/>
                </a:path>
              </a:pathLst>
            </a:custGeom>
            <a:gradFill>
              <a:gsLst>
                <a:gs pos="0">
                  <a:srgbClr val="D9D9DF"/>
                </a:gs>
                <a:gs pos="35000">
                  <a:srgbClr val="E4E4E6"/>
                </a:gs>
                <a:gs pos="100000">
                  <a:srgbClr val="F5F5F5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78150" lIns="94700" spcFirstLastPara="1" rIns="0" wrap="square" tIns="78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4"/>
            <p:cNvSpPr/>
            <p:nvPr/>
          </p:nvSpPr>
          <p:spPr>
            <a:xfrm rot="4315661">
              <a:off x="3491765" y="3786763"/>
              <a:ext cx="409344" cy="520671"/>
            </a:xfrm>
            <a:custGeom>
              <a:rect b="b" l="l" r="r" t="t"/>
              <a:pathLst>
                <a:path extrusionOk="0" h="521036" w="409631">
                  <a:moveTo>
                    <a:pt x="409631" y="416829"/>
                  </a:moveTo>
                  <a:lnTo>
                    <a:pt x="204815" y="416829"/>
                  </a:lnTo>
                  <a:lnTo>
                    <a:pt x="204815" y="521036"/>
                  </a:lnTo>
                  <a:lnTo>
                    <a:pt x="0" y="260518"/>
                  </a:lnTo>
                  <a:lnTo>
                    <a:pt x="204815" y="0"/>
                  </a:lnTo>
                  <a:lnTo>
                    <a:pt x="204815" y="104207"/>
                  </a:lnTo>
                  <a:lnTo>
                    <a:pt x="409631" y="104207"/>
                  </a:lnTo>
                  <a:lnTo>
                    <a:pt x="409631" y="416829"/>
                  </a:lnTo>
                  <a:close/>
                </a:path>
              </a:pathLst>
            </a:custGeom>
            <a:gradFill>
              <a:gsLst>
                <a:gs pos="0">
                  <a:srgbClr val="D9D9DF"/>
                </a:gs>
                <a:gs pos="35000">
                  <a:srgbClr val="E4E4E6"/>
                </a:gs>
                <a:gs pos="100000">
                  <a:srgbClr val="F5F5F5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78150" lIns="92150" spcFirstLastPara="1" rIns="0" wrap="square" tIns="78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4"/>
            <p:cNvSpPr/>
            <p:nvPr/>
          </p:nvSpPr>
          <p:spPr>
            <a:xfrm>
              <a:off x="2950485" y="1497796"/>
              <a:ext cx="1879589" cy="1879589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4"/>
            <p:cNvSpPr/>
            <p:nvPr/>
          </p:nvSpPr>
          <p:spPr>
            <a:xfrm rot="-508449">
              <a:off x="5709784" y="1870628"/>
              <a:ext cx="410011" cy="521519"/>
            </a:xfrm>
            <a:custGeom>
              <a:rect b="b" l="l" r="r" t="t"/>
              <a:pathLst>
                <a:path extrusionOk="0" h="521036" w="409631">
                  <a:moveTo>
                    <a:pt x="0" y="104207"/>
                  </a:moveTo>
                  <a:lnTo>
                    <a:pt x="204816" y="104207"/>
                  </a:lnTo>
                  <a:lnTo>
                    <a:pt x="204816" y="0"/>
                  </a:lnTo>
                  <a:lnTo>
                    <a:pt x="409631" y="260518"/>
                  </a:lnTo>
                  <a:lnTo>
                    <a:pt x="204816" y="521036"/>
                  </a:lnTo>
                  <a:lnTo>
                    <a:pt x="204816" y="416829"/>
                  </a:lnTo>
                  <a:lnTo>
                    <a:pt x="0" y="416829"/>
                  </a:lnTo>
                  <a:lnTo>
                    <a:pt x="0" y="104207"/>
                  </a:lnTo>
                  <a:close/>
                </a:path>
              </a:pathLst>
            </a:custGeom>
            <a:gradFill>
              <a:gsLst>
                <a:gs pos="0">
                  <a:srgbClr val="D9D9DF"/>
                </a:gs>
                <a:gs pos="35000">
                  <a:srgbClr val="E4E4E6"/>
                </a:gs>
                <a:gs pos="100000">
                  <a:srgbClr val="F5F5F5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78150" lIns="0" spcFirstLastPara="1" rIns="92150" wrap="square" tIns="78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4"/>
            <p:cNvSpPr/>
            <p:nvPr/>
          </p:nvSpPr>
          <p:spPr>
            <a:xfrm>
              <a:off x="7232622" y="1448583"/>
              <a:ext cx="1879589" cy="1879589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4"/>
            <p:cNvSpPr/>
            <p:nvPr/>
          </p:nvSpPr>
          <p:spPr>
            <a:xfrm>
              <a:off x="3114060" y="4848571"/>
              <a:ext cx="1879589" cy="1879589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4"/>
            <p:cNvSpPr/>
            <p:nvPr/>
          </p:nvSpPr>
          <p:spPr>
            <a:xfrm flipH="1" rot="508449">
              <a:off x="5872945" y="5221403"/>
              <a:ext cx="410011" cy="521519"/>
            </a:xfrm>
            <a:custGeom>
              <a:rect b="b" l="l" r="r" t="t"/>
              <a:pathLst>
                <a:path extrusionOk="0" h="521036" w="409631">
                  <a:moveTo>
                    <a:pt x="0" y="104207"/>
                  </a:moveTo>
                  <a:lnTo>
                    <a:pt x="204816" y="104207"/>
                  </a:lnTo>
                  <a:lnTo>
                    <a:pt x="204816" y="0"/>
                  </a:lnTo>
                  <a:lnTo>
                    <a:pt x="409631" y="260518"/>
                  </a:lnTo>
                  <a:lnTo>
                    <a:pt x="204816" y="521036"/>
                  </a:lnTo>
                  <a:lnTo>
                    <a:pt x="204816" y="416829"/>
                  </a:lnTo>
                  <a:lnTo>
                    <a:pt x="0" y="416829"/>
                  </a:lnTo>
                  <a:lnTo>
                    <a:pt x="0" y="104207"/>
                  </a:lnTo>
                  <a:close/>
                </a:path>
              </a:pathLst>
            </a:custGeom>
            <a:gradFill>
              <a:gsLst>
                <a:gs pos="0">
                  <a:srgbClr val="D9D9DF"/>
                </a:gs>
                <a:gs pos="35000">
                  <a:srgbClr val="E4E4E6"/>
                </a:gs>
                <a:gs pos="100000">
                  <a:srgbClr val="F5F5F5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78150" lIns="0" spcFirstLastPara="1" rIns="92150" wrap="square" tIns="78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4"/>
            <p:cNvSpPr/>
            <p:nvPr/>
          </p:nvSpPr>
          <p:spPr>
            <a:xfrm>
              <a:off x="7396197" y="4799358"/>
              <a:ext cx="1879589" cy="1879589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4"/>
          <p:cNvSpPr txBox="1"/>
          <p:nvPr/>
        </p:nvSpPr>
        <p:spPr>
          <a:xfrm>
            <a:off x="-17718" y="67455"/>
            <a:ext cx="336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0" y="614598"/>
            <a:ext cx="507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On completing this module, the learner will be able to:</a:t>
            </a:r>
            <a:endParaRPr b="1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391518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2375693" y="158809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2" type="body"/>
          </p:nvPr>
        </p:nvSpPr>
        <p:spPr>
          <a:xfrm>
            <a:off x="5587296" y="155118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3" type="body"/>
          </p:nvPr>
        </p:nvSpPr>
        <p:spPr>
          <a:xfrm>
            <a:off x="2498375" y="4101177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4" type="body"/>
          </p:nvPr>
        </p:nvSpPr>
        <p:spPr>
          <a:xfrm>
            <a:off x="5709977" y="4064267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odule Objectives_Slide">
  <p:cSld name="5_Module Objectives_Slide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5"/>
          <p:cNvGrpSpPr/>
          <p:nvPr/>
        </p:nvGrpSpPr>
        <p:grpSpPr>
          <a:xfrm>
            <a:off x="2689406" y="915160"/>
            <a:ext cx="4258158" cy="4019638"/>
            <a:chOff x="3585815" y="1220209"/>
            <a:chExt cx="5399643" cy="5108844"/>
          </a:xfrm>
        </p:grpSpPr>
        <p:sp>
          <p:nvSpPr>
            <p:cNvPr id="149" name="Google Shape;149;p25"/>
            <p:cNvSpPr/>
            <p:nvPr/>
          </p:nvSpPr>
          <p:spPr>
            <a:xfrm>
              <a:off x="6618414" y="4785243"/>
              <a:ext cx="1543810" cy="1543810"/>
            </a:xfrm>
            <a:custGeom>
              <a:rect b="b" l="l" r="r" t="t"/>
              <a:pathLst>
                <a:path extrusionOk="0" h="1543810" w="1543810">
                  <a:moveTo>
                    <a:pt x="0" y="771905"/>
                  </a:moveTo>
                  <a:cubicBezTo>
                    <a:pt x="0" y="345594"/>
                    <a:pt x="345594" y="0"/>
                    <a:pt x="771905" y="0"/>
                  </a:cubicBezTo>
                  <a:cubicBezTo>
                    <a:pt x="1198216" y="0"/>
                    <a:pt x="1543810" y="345594"/>
                    <a:pt x="1543810" y="771905"/>
                  </a:cubicBezTo>
                  <a:cubicBezTo>
                    <a:pt x="1543810" y="1198216"/>
                    <a:pt x="1198216" y="1543810"/>
                    <a:pt x="771905" y="1543810"/>
                  </a:cubicBezTo>
                  <a:cubicBezTo>
                    <a:pt x="345594" y="1543810"/>
                    <a:pt x="0" y="1198216"/>
                    <a:pt x="0" y="771905"/>
                  </a:cubicBezTo>
                  <a:close/>
                </a:path>
              </a:pathLst>
            </a:custGeom>
            <a:gradFill>
              <a:gsLst>
                <a:gs pos="0">
                  <a:srgbClr val="F9F9F9"/>
                </a:gs>
                <a:gs pos="35000">
                  <a:srgbClr val="FBFBFB"/>
                </a:gs>
                <a:gs pos="100000">
                  <a:srgbClr val="FDFDF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178125" lIns="178125" spcFirstLastPara="1" rIns="178125" wrap="square" tIns="178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25"/>
            <p:cNvGrpSpPr/>
            <p:nvPr/>
          </p:nvGrpSpPr>
          <p:grpSpPr>
            <a:xfrm>
              <a:off x="3585815" y="1220209"/>
              <a:ext cx="5399643" cy="5108844"/>
              <a:chOff x="3585815" y="1220209"/>
              <a:chExt cx="5399643" cy="5108844"/>
            </a:xfrm>
          </p:grpSpPr>
          <p:pic>
            <p:nvPicPr>
              <p:cNvPr descr="Graphical user interface, text&#10;&#10;Description automatically generated" id="151" name="Google Shape;151;p2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938567" y="2870616"/>
                <a:ext cx="2703445" cy="18022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5"/>
              <p:cNvSpPr/>
              <p:nvPr/>
            </p:nvSpPr>
            <p:spPr>
              <a:xfrm>
                <a:off x="5460064" y="1220209"/>
                <a:ext cx="1543810" cy="1543810"/>
              </a:xfrm>
              <a:custGeom>
                <a:rect b="b" l="l" r="r" t="t"/>
                <a:pathLst>
                  <a:path extrusionOk="0" h="1543810" w="1543810">
                    <a:moveTo>
                      <a:pt x="0" y="771905"/>
                    </a:moveTo>
                    <a:cubicBezTo>
                      <a:pt x="0" y="345594"/>
                      <a:pt x="345594" y="0"/>
                      <a:pt x="771905" y="0"/>
                    </a:cubicBezTo>
                    <a:cubicBezTo>
                      <a:pt x="1198216" y="0"/>
                      <a:pt x="1543810" y="345594"/>
                      <a:pt x="1543810" y="771905"/>
                    </a:cubicBezTo>
                    <a:cubicBezTo>
                      <a:pt x="1543810" y="1198216"/>
                      <a:pt x="1198216" y="1543810"/>
                      <a:pt x="771905" y="1543810"/>
                    </a:cubicBezTo>
                    <a:cubicBezTo>
                      <a:pt x="345594" y="1543810"/>
                      <a:pt x="0" y="1198216"/>
                      <a:pt x="0" y="77190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9F9F9"/>
                  </a:gs>
                  <a:gs pos="35000">
                    <a:srgbClr val="FBFBFB"/>
                  </a:gs>
                  <a:gs pos="100000">
                    <a:srgbClr val="FDFDFD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178125" lIns="178125" spcFirstLastPara="1" rIns="178125" wrap="square" tIns="178125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 rot="2126268">
                <a:off x="6960749" y="2396146"/>
                <a:ext cx="407937" cy="521199"/>
              </a:xfrm>
              <a:custGeom>
                <a:rect b="b" l="l" r="r" t="t"/>
                <a:pathLst>
                  <a:path extrusionOk="0" h="521036" w="407810">
                    <a:moveTo>
                      <a:pt x="0" y="104207"/>
                    </a:moveTo>
                    <a:lnTo>
                      <a:pt x="203905" y="104207"/>
                    </a:lnTo>
                    <a:lnTo>
                      <a:pt x="203905" y="0"/>
                    </a:lnTo>
                    <a:lnTo>
                      <a:pt x="407810" y="260518"/>
                    </a:lnTo>
                    <a:lnTo>
                      <a:pt x="203905" y="521036"/>
                    </a:lnTo>
                    <a:lnTo>
                      <a:pt x="203905" y="416829"/>
                    </a:lnTo>
                    <a:lnTo>
                      <a:pt x="0" y="416829"/>
                    </a:lnTo>
                    <a:lnTo>
                      <a:pt x="0" y="104207"/>
                    </a:lnTo>
                    <a:close/>
                  </a:path>
                </a:pathLst>
              </a:custGeom>
              <a:gradFill>
                <a:gsLst>
                  <a:gs pos="0">
                    <a:srgbClr val="D9D9DF"/>
                  </a:gs>
                  <a:gs pos="35000">
                    <a:srgbClr val="E4E4E6"/>
                  </a:gs>
                  <a:gs pos="100000">
                    <a:srgbClr val="F5F5F5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78150" lIns="0" spcFirstLastPara="1" rIns="91750" wrap="square" tIns="781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5"/>
              <p:cNvSpPr/>
              <p:nvPr/>
            </p:nvSpPr>
            <p:spPr>
              <a:xfrm>
                <a:off x="7441648" y="2566926"/>
                <a:ext cx="1543810" cy="1543810"/>
              </a:xfrm>
              <a:custGeom>
                <a:rect b="b" l="l" r="r" t="t"/>
                <a:pathLst>
                  <a:path extrusionOk="0" h="1543810" w="1543810">
                    <a:moveTo>
                      <a:pt x="0" y="771905"/>
                    </a:moveTo>
                    <a:cubicBezTo>
                      <a:pt x="0" y="345594"/>
                      <a:pt x="345594" y="0"/>
                      <a:pt x="771905" y="0"/>
                    </a:cubicBezTo>
                    <a:cubicBezTo>
                      <a:pt x="1198216" y="0"/>
                      <a:pt x="1543810" y="345594"/>
                      <a:pt x="1543810" y="771905"/>
                    </a:cubicBezTo>
                    <a:cubicBezTo>
                      <a:pt x="1543810" y="1198216"/>
                      <a:pt x="1198216" y="1543810"/>
                      <a:pt x="771905" y="1543810"/>
                    </a:cubicBezTo>
                    <a:cubicBezTo>
                      <a:pt x="345594" y="1543810"/>
                      <a:pt x="0" y="1198216"/>
                      <a:pt x="0" y="77190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9F9F9"/>
                  </a:gs>
                  <a:gs pos="35000">
                    <a:srgbClr val="FBFBFB"/>
                  </a:gs>
                  <a:gs pos="100000">
                    <a:srgbClr val="FDFDFD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178125" lIns="178125" spcFirstLastPara="1" rIns="178125" wrap="square" tIns="178125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5"/>
              <p:cNvSpPr/>
              <p:nvPr/>
            </p:nvSpPr>
            <p:spPr>
              <a:xfrm rot="-4315661">
                <a:off x="7546234" y="4174257"/>
                <a:ext cx="420615" cy="520671"/>
              </a:xfrm>
              <a:custGeom>
                <a:rect b="b" l="l" r="r" t="t"/>
                <a:pathLst>
                  <a:path extrusionOk="0" h="521036" w="420910">
                    <a:moveTo>
                      <a:pt x="420910" y="416829"/>
                    </a:moveTo>
                    <a:lnTo>
                      <a:pt x="210455" y="416829"/>
                    </a:lnTo>
                    <a:lnTo>
                      <a:pt x="210455" y="521036"/>
                    </a:lnTo>
                    <a:lnTo>
                      <a:pt x="0" y="260518"/>
                    </a:lnTo>
                    <a:lnTo>
                      <a:pt x="210455" y="0"/>
                    </a:lnTo>
                    <a:lnTo>
                      <a:pt x="210455" y="104207"/>
                    </a:lnTo>
                    <a:lnTo>
                      <a:pt x="420910" y="104207"/>
                    </a:lnTo>
                    <a:lnTo>
                      <a:pt x="420910" y="416829"/>
                    </a:lnTo>
                    <a:close/>
                  </a:path>
                </a:pathLst>
              </a:custGeom>
              <a:gradFill>
                <a:gsLst>
                  <a:gs pos="0">
                    <a:srgbClr val="D9D9DF"/>
                  </a:gs>
                  <a:gs pos="35000">
                    <a:srgbClr val="E4E4E6"/>
                  </a:gs>
                  <a:gs pos="100000">
                    <a:srgbClr val="F5F5F5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78150" lIns="94700" spcFirstLastPara="1" rIns="0" wrap="square" tIns="781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5"/>
              <p:cNvSpPr/>
              <p:nvPr/>
            </p:nvSpPr>
            <p:spPr>
              <a:xfrm>
                <a:off x="6038747" y="5296629"/>
                <a:ext cx="409631" cy="521036"/>
              </a:xfrm>
              <a:custGeom>
                <a:rect b="b" l="l" r="r" t="t"/>
                <a:pathLst>
                  <a:path extrusionOk="0" h="521036" w="409631">
                    <a:moveTo>
                      <a:pt x="409631" y="416829"/>
                    </a:moveTo>
                    <a:lnTo>
                      <a:pt x="204815" y="416829"/>
                    </a:lnTo>
                    <a:lnTo>
                      <a:pt x="204815" y="521036"/>
                    </a:lnTo>
                    <a:lnTo>
                      <a:pt x="0" y="260518"/>
                    </a:lnTo>
                    <a:lnTo>
                      <a:pt x="204815" y="0"/>
                    </a:lnTo>
                    <a:lnTo>
                      <a:pt x="204815" y="104207"/>
                    </a:lnTo>
                    <a:lnTo>
                      <a:pt x="409631" y="104207"/>
                    </a:lnTo>
                    <a:lnTo>
                      <a:pt x="409631" y="416829"/>
                    </a:lnTo>
                    <a:close/>
                  </a:path>
                </a:pathLst>
              </a:custGeom>
              <a:gradFill>
                <a:gsLst>
                  <a:gs pos="0">
                    <a:srgbClr val="D9D9DF"/>
                  </a:gs>
                  <a:gs pos="35000">
                    <a:srgbClr val="E4E4E6"/>
                  </a:gs>
                  <a:gs pos="100000">
                    <a:srgbClr val="F5F5F5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78150" lIns="92150" spcFirstLastPara="1" rIns="0" wrap="square" tIns="781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5"/>
              <p:cNvSpPr/>
              <p:nvPr/>
            </p:nvSpPr>
            <p:spPr>
              <a:xfrm>
                <a:off x="4301714" y="4785243"/>
                <a:ext cx="1543810" cy="1543810"/>
              </a:xfrm>
              <a:custGeom>
                <a:rect b="b" l="l" r="r" t="t"/>
                <a:pathLst>
                  <a:path extrusionOk="0" h="1543810" w="1543810">
                    <a:moveTo>
                      <a:pt x="0" y="771905"/>
                    </a:moveTo>
                    <a:cubicBezTo>
                      <a:pt x="0" y="345594"/>
                      <a:pt x="345594" y="0"/>
                      <a:pt x="771905" y="0"/>
                    </a:cubicBezTo>
                    <a:cubicBezTo>
                      <a:pt x="1198216" y="0"/>
                      <a:pt x="1543810" y="345594"/>
                      <a:pt x="1543810" y="771905"/>
                    </a:cubicBezTo>
                    <a:cubicBezTo>
                      <a:pt x="1543810" y="1198216"/>
                      <a:pt x="1198216" y="1543810"/>
                      <a:pt x="771905" y="1543810"/>
                    </a:cubicBezTo>
                    <a:cubicBezTo>
                      <a:pt x="345594" y="1543810"/>
                      <a:pt x="0" y="1198216"/>
                      <a:pt x="0" y="77190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9F9F9"/>
                  </a:gs>
                  <a:gs pos="35000">
                    <a:srgbClr val="FBFBFB"/>
                  </a:gs>
                  <a:gs pos="100000">
                    <a:srgbClr val="FDFDFD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178125" lIns="178125" spcFirstLastPara="1" rIns="178125" wrap="square" tIns="178125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5"/>
              <p:cNvSpPr/>
              <p:nvPr/>
            </p:nvSpPr>
            <p:spPr>
              <a:xfrm rot="4315661">
                <a:off x="4515057" y="4206221"/>
                <a:ext cx="409344" cy="520671"/>
              </a:xfrm>
              <a:custGeom>
                <a:rect b="b" l="l" r="r" t="t"/>
                <a:pathLst>
                  <a:path extrusionOk="0" h="521036" w="409631">
                    <a:moveTo>
                      <a:pt x="409631" y="416829"/>
                    </a:moveTo>
                    <a:lnTo>
                      <a:pt x="204815" y="416829"/>
                    </a:lnTo>
                    <a:lnTo>
                      <a:pt x="204815" y="521036"/>
                    </a:lnTo>
                    <a:lnTo>
                      <a:pt x="0" y="260518"/>
                    </a:lnTo>
                    <a:lnTo>
                      <a:pt x="204815" y="0"/>
                    </a:lnTo>
                    <a:lnTo>
                      <a:pt x="204815" y="104207"/>
                    </a:lnTo>
                    <a:lnTo>
                      <a:pt x="409631" y="104207"/>
                    </a:lnTo>
                    <a:lnTo>
                      <a:pt x="409631" y="416829"/>
                    </a:lnTo>
                    <a:close/>
                  </a:path>
                </a:pathLst>
              </a:custGeom>
              <a:gradFill>
                <a:gsLst>
                  <a:gs pos="0">
                    <a:srgbClr val="D9D9DF"/>
                  </a:gs>
                  <a:gs pos="35000">
                    <a:srgbClr val="E4E4E6"/>
                  </a:gs>
                  <a:gs pos="100000">
                    <a:srgbClr val="F5F5F5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78150" lIns="92150" spcFirstLastPara="1" rIns="0" wrap="square" tIns="781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5"/>
              <p:cNvSpPr/>
              <p:nvPr/>
            </p:nvSpPr>
            <p:spPr>
              <a:xfrm>
                <a:off x="3585815" y="2581931"/>
                <a:ext cx="1543810" cy="1543810"/>
              </a:xfrm>
              <a:custGeom>
                <a:rect b="b" l="l" r="r" t="t"/>
                <a:pathLst>
                  <a:path extrusionOk="0" h="1543810" w="1543810">
                    <a:moveTo>
                      <a:pt x="0" y="771905"/>
                    </a:moveTo>
                    <a:cubicBezTo>
                      <a:pt x="0" y="345594"/>
                      <a:pt x="345594" y="0"/>
                      <a:pt x="771905" y="0"/>
                    </a:cubicBezTo>
                    <a:cubicBezTo>
                      <a:pt x="1198216" y="0"/>
                      <a:pt x="1543810" y="345594"/>
                      <a:pt x="1543810" y="771905"/>
                    </a:cubicBezTo>
                    <a:cubicBezTo>
                      <a:pt x="1543810" y="1198216"/>
                      <a:pt x="1198216" y="1543810"/>
                      <a:pt x="771905" y="1543810"/>
                    </a:cubicBezTo>
                    <a:cubicBezTo>
                      <a:pt x="345594" y="1543810"/>
                      <a:pt x="0" y="1198216"/>
                      <a:pt x="0" y="77190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9F9F9"/>
                  </a:gs>
                  <a:gs pos="35000">
                    <a:srgbClr val="FBFBFB"/>
                  </a:gs>
                  <a:gs pos="100000">
                    <a:srgbClr val="FDFDFD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178125" lIns="178125" spcFirstLastPara="1" rIns="178125" wrap="square" tIns="178125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5"/>
              <p:cNvSpPr/>
              <p:nvPr/>
            </p:nvSpPr>
            <p:spPr>
              <a:xfrm rot="-2157222">
                <a:off x="5080648" y="2419422"/>
                <a:ext cx="409888" cy="521363"/>
              </a:xfrm>
              <a:custGeom>
                <a:rect b="b" l="l" r="r" t="t"/>
                <a:pathLst>
                  <a:path extrusionOk="0" h="521036" w="409631">
                    <a:moveTo>
                      <a:pt x="0" y="104207"/>
                    </a:moveTo>
                    <a:lnTo>
                      <a:pt x="204816" y="104207"/>
                    </a:lnTo>
                    <a:lnTo>
                      <a:pt x="204816" y="0"/>
                    </a:lnTo>
                    <a:lnTo>
                      <a:pt x="409631" y="260518"/>
                    </a:lnTo>
                    <a:lnTo>
                      <a:pt x="204816" y="521036"/>
                    </a:lnTo>
                    <a:lnTo>
                      <a:pt x="204816" y="416829"/>
                    </a:lnTo>
                    <a:lnTo>
                      <a:pt x="0" y="416829"/>
                    </a:lnTo>
                    <a:lnTo>
                      <a:pt x="0" y="104207"/>
                    </a:lnTo>
                    <a:close/>
                  </a:path>
                </a:pathLst>
              </a:custGeom>
              <a:gradFill>
                <a:gsLst>
                  <a:gs pos="0">
                    <a:srgbClr val="D9D9DF"/>
                  </a:gs>
                  <a:gs pos="35000">
                    <a:srgbClr val="E4E4E6"/>
                  </a:gs>
                  <a:gs pos="100000">
                    <a:srgbClr val="F5F5F5"/>
                  </a:gs>
                </a:gsLst>
                <a:lin ang="16200038" scaled="0"/>
              </a:gradFill>
              <a:ln>
                <a:noFill/>
              </a:ln>
              <a:effectLst>
                <a:outerShdw blurRad="40000" rotWithShape="0" dir="5400000" dist="20000">
                  <a:srgbClr val="000000">
                    <a:alpha val="37650"/>
                  </a:srgbClr>
                </a:outerShdw>
              </a:effectLst>
            </p:spPr>
            <p:txBody>
              <a:bodyPr anchorCtr="0" anchor="ctr" bIns="78150" lIns="0" spcFirstLastPara="1" rIns="92150" wrap="square" tIns="781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1" name="Google Shape;161;p25"/>
          <p:cNvSpPr txBox="1"/>
          <p:nvPr/>
        </p:nvSpPr>
        <p:spPr>
          <a:xfrm>
            <a:off x="-17718" y="67455"/>
            <a:ext cx="336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0" y="614598"/>
            <a:ext cx="507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On completing this module, the learner will be able to:</a:t>
            </a:r>
            <a:endParaRPr b="1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391518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4177580" y="1284575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2" type="body"/>
          </p:nvPr>
        </p:nvSpPr>
        <p:spPr>
          <a:xfrm>
            <a:off x="5796744" y="2380872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3" type="body"/>
          </p:nvPr>
        </p:nvSpPr>
        <p:spPr>
          <a:xfrm>
            <a:off x="5147552" y="4122470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3312968" y="407544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5"/>
          <p:cNvSpPr txBox="1"/>
          <p:nvPr>
            <p:ph idx="5" type="body"/>
          </p:nvPr>
        </p:nvSpPr>
        <p:spPr>
          <a:xfrm>
            <a:off x="2757388" y="2371565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Module Objectives_Slide">
  <p:cSld name="6_Module Objectives_Slid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170" name="Google Shape;17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64804" y="1930727"/>
            <a:ext cx="2638250" cy="17588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-17718" y="67455"/>
            <a:ext cx="336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0" y="614598"/>
            <a:ext cx="507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On completing this module, the learner will be able to:</a:t>
            </a:r>
            <a:endParaRPr b="1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391518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26"/>
          <p:cNvSpPr/>
          <p:nvPr/>
        </p:nvSpPr>
        <p:spPr>
          <a:xfrm>
            <a:off x="4090404" y="871090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 rot="2122952">
            <a:off x="5807890" y="1292925"/>
            <a:ext cx="306369" cy="391430"/>
          </a:xfrm>
          <a:custGeom>
            <a:rect b="b" l="l" r="r" t="t"/>
            <a:pathLst>
              <a:path extrusionOk="0" h="521036" w="407810">
                <a:moveTo>
                  <a:pt x="0" y="104207"/>
                </a:moveTo>
                <a:lnTo>
                  <a:pt x="203905" y="104207"/>
                </a:lnTo>
                <a:lnTo>
                  <a:pt x="203905" y="0"/>
                </a:lnTo>
                <a:lnTo>
                  <a:pt x="407810" y="260518"/>
                </a:lnTo>
                <a:lnTo>
                  <a:pt x="203905" y="521036"/>
                </a:lnTo>
                <a:lnTo>
                  <a:pt x="203905" y="416829"/>
                </a:lnTo>
                <a:lnTo>
                  <a:pt x="0" y="416829"/>
                </a:lnTo>
                <a:lnTo>
                  <a:pt x="0" y="104207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0" spcFirstLastPara="1" rIns="9175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6256366" y="1260801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 rot="-881112">
            <a:off x="5802872" y="4077139"/>
            <a:ext cx="315465" cy="390508"/>
          </a:xfrm>
          <a:custGeom>
            <a:rect b="b" l="l" r="r" t="t"/>
            <a:pathLst>
              <a:path extrusionOk="0" h="521036" w="420910">
                <a:moveTo>
                  <a:pt x="420910" y="416829"/>
                </a:moveTo>
                <a:lnTo>
                  <a:pt x="210455" y="416829"/>
                </a:lnTo>
                <a:lnTo>
                  <a:pt x="210455" y="521036"/>
                </a:lnTo>
                <a:lnTo>
                  <a:pt x="0" y="260518"/>
                </a:lnTo>
                <a:lnTo>
                  <a:pt x="210455" y="0"/>
                </a:lnTo>
                <a:lnTo>
                  <a:pt x="210455" y="104207"/>
                </a:lnTo>
                <a:lnTo>
                  <a:pt x="420910" y="104207"/>
                </a:lnTo>
                <a:lnTo>
                  <a:pt x="420910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470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6332429" y="2903795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4529060" y="3972472"/>
            <a:ext cx="307223" cy="390777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4207882" y="3711684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 rot="2015050">
            <a:off x="3432545" y="4077235"/>
            <a:ext cx="307319" cy="390899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23281" y="1264233"/>
            <a:ext cx="1157858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 rot="-2154903">
            <a:off x="3550224" y="1279081"/>
            <a:ext cx="307266" cy="390831"/>
          </a:xfrm>
          <a:custGeom>
            <a:rect b="b" l="l" r="r" t="t"/>
            <a:pathLst>
              <a:path extrusionOk="0" h="521036" w="409631">
                <a:moveTo>
                  <a:pt x="0" y="104207"/>
                </a:moveTo>
                <a:lnTo>
                  <a:pt x="204816" y="104207"/>
                </a:lnTo>
                <a:lnTo>
                  <a:pt x="204816" y="0"/>
                </a:lnTo>
                <a:lnTo>
                  <a:pt x="409631" y="260518"/>
                </a:lnTo>
                <a:lnTo>
                  <a:pt x="204816" y="521036"/>
                </a:lnTo>
                <a:lnTo>
                  <a:pt x="204816" y="416829"/>
                </a:lnTo>
                <a:lnTo>
                  <a:pt x="0" y="416829"/>
                </a:lnTo>
                <a:lnTo>
                  <a:pt x="0" y="104207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0" spcFirstLastPara="1" rIns="9215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4127339" y="1212048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6"/>
          <p:cNvSpPr/>
          <p:nvPr/>
        </p:nvSpPr>
        <p:spPr>
          <a:xfrm>
            <a:off x="2148287" y="3010003"/>
            <a:ext cx="1157858" cy="1157858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 rot="5400000">
            <a:off x="2491531" y="2479823"/>
            <a:ext cx="307223" cy="390777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 flipH="1" rot="5400000">
            <a:off x="6681683" y="2447101"/>
            <a:ext cx="307223" cy="390777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 txBox="1"/>
          <p:nvPr>
            <p:ph idx="2" type="body"/>
          </p:nvPr>
        </p:nvSpPr>
        <p:spPr>
          <a:xfrm>
            <a:off x="6293301" y="167493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3" type="body"/>
          </p:nvPr>
        </p:nvSpPr>
        <p:spPr>
          <a:xfrm>
            <a:off x="6369364" y="3277998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26"/>
          <p:cNvSpPr txBox="1"/>
          <p:nvPr>
            <p:ph idx="4" type="body"/>
          </p:nvPr>
        </p:nvSpPr>
        <p:spPr>
          <a:xfrm>
            <a:off x="4241965" y="406910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5" type="body"/>
          </p:nvPr>
        </p:nvSpPr>
        <p:spPr>
          <a:xfrm>
            <a:off x="2195242" y="3361742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6" type="body"/>
          </p:nvPr>
        </p:nvSpPr>
        <p:spPr>
          <a:xfrm>
            <a:off x="2160216" y="1646572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Module Objectives_Slide">
  <p:cSld name="7_Module Objectives_Slide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194" name="Google Shape;19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7118" y="1908157"/>
            <a:ext cx="2727640" cy="18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7"/>
          <p:cNvSpPr txBox="1"/>
          <p:nvPr/>
        </p:nvSpPr>
        <p:spPr>
          <a:xfrm>
            <a:off x="-17718" y="67455"/>
            <a:ext cx="336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0" y="554964"/>
            <a:ext cx="507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On completing this module, the learner will be able to:</a:t>
            </a:r>
            <a:endParaRPr b="1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8391518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4027345" y="855929"/>
            <a:ext cx="1157857" cy="1157858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7"/>
          <p:cNvSpPr/>
          <p:nvPr/>
        </p:nvSpPr>
        <p:spPr>
          <a:xfrm rot="2122952">
            <a:off x="5409246" y="1279308"/>
            <a:ext cx="306369" cy="391430"/>
          </a:xfrm>
          <a:custGeom>
            <a:rect b="b" l="l" r="r" t="t"/>
            <a:pathLst>
              <a:path extrusionOk="0" h="521036" w="407810">
                <a:moveTo>
                  <a:pt x="0" y="104207"/>
                </a:moveTo>
                <a:lnTo>
                  <a:pt x="203905" y="104207"/>
                </a:lnTo>
                <a:lnTo>
                  <a:pt x="203905" y="0"/>
                </a:lnTo>
                <a:lnTo>
                  <a:pt x="407810" y="260518"/>
                </a:lnTo>
                <a:lnTo>
                  <a:pt x="203905" y="521036"/>
                </a:lnTo>
                <a:lnTo>
                  <a:pt x="203905" y="416829"/>
                </a:lnTo>
                <a:lnTo>
                  <a:pt x="0" y="416829"/>
                </a:lnTo>
                <a:lnTo>
                  <a:pt x="0" y="104207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0" spcFirstLastPara="1" rIns="9175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5799947" y="1277173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7"/>
          <p:cNvSpPr/>
          <p:nvPr/>
        </p:nvSpPr>
        <p:spPr>
          <a:xfrm rot="-881112">
            <a:off x="6132593" y="4178476"/>
            <a:ext cx="315465" cy="390508"/>
          </a:xfrm>
          <a:custGeom>
            <a:rect b="b" l="l" r="r" t="t"/>
            <a:pathLst>
              <a:path extrusionOk="0" h="521036" w="420910">
                <a:moveTo>
                  <a:pt x="420910" y="416829"/>
                </a:moveTo>
                <a:lnTo>
                  <a:pt x="210455" y="416829"/>
                </a:lnTo>
                <a:lnTo>
                  <a:pt x="210455" y="521036"/>
                </a:lnTo>
                <a:lnTo>
                  <a:pt x="0" y="260518"/>
                </a:lnTo>
                <a:lnTo>
                  <a:pt x="210455" y="0"/>
                </a:lnTo>
                <a:lnTo>
                  <a:pt x="210455" y="104207"/>
                </a:lnTo>
                <a:lnTo>
                  <a:pt x="420910" y="104207"/>
                </a:lnTo>
                <a:lnTo>
                  <a:pt x="420910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470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6088247" y="3003289"/>
            <a:ext cx="1157857" cy="1157858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4527756" y="4547576"/>
            <a:ext cx="307223" cy="390777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3273348" y="3795020"/>
            <a:ext cx="1157858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7"/>
          <p:cNvSpPr/>
          <p:nvPr/>
        </p:nvSpPr>
        <p:spPr>
          <a:xfrm rot="2015050">
            <a:off x="2845731" y="4085773"/>
            <a:ext cx="307319" cy="390899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2331964" y="1225769"/>
            <a:ext cx="1157858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/>
          <p:nvPr/>
        </p:nvSpPr>
        <p:spPr>
          <a:xfrm rot="-2154903">
            <a:off x="3550224" y="1279081"/>
            <a:ext cx="307266" cy="390831"/>
          </a:xfrm>
          <a:custGeom>
            <a:rect b="b" l="l" r="r" t="t"/>
            <a:pathLst>
              <a:path extrusionOk="0" h="521036" w="409631">
                <a:moveTo>
                  <a:pt x="0" y="104207"/>
                </a:moveTo>
                <a:lnTo>
                  <a:pt x="204816" y="104207"/>
                </a:lnTo>
                <a:lnTo>
                  <a:pt x="204816" y="0"/>
                </a:lnTo>
                <a:lnTo>
                  <a:pt x="409631" y="260518"/>
                </a:lnTo>
                <a:lnTo>
                  <a:pt x="204816" y="521036"/>
                </a:lnTo>
                <a:lnTo>
                  <a:pt x="204816" y="416829"/>
                </a:lnTo>
                <a:lnTo>
                  <a:pt x="0" y="416829"/>
                </a:lnTo>
                <a:lnTo>
                  <a:pt x="0" y="104207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0" spcFirstLastPara="1" rIns="9215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4064280" y="1196888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27"/>
          <p:cNvSpPr/>
          <p:nvPr/>
        </p:nvSpPr>
        <p:spPr>
          <a:xfrm>
            <a:off x="2026434" y="2925755"/>
            <a:ext cx="1157858" cy="1157858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7"/>
          <p:cNvSpPr/>
          <p:nvPr/>
        </p:nvSpPr>
        <p:spPr>
          <a:xfrm rot="5400000">
            <a:off x="2491531" y="2479823"/>
            <a:ext cx="307223" cy="390777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7"/>
          <p:cNvSpPr/>
          <p:nvPr/>
        </p:nvSpPr>
        <p:spPr>
          <a:xfrm flipH="1" rot="5400000">
            <a:off x="6513566" y="2529974"/>
            <a:ext cx="307223" cy="390777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 txBox="1"/>
          <p:nvPr>
            <p:ph idx="2" type="body"/>
          </p:nvPr>
        </p:nvSpPr>
        <p:spPr>
          <a:xfrm>
            <a:off x="5836883" y="1691308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3" name="Google Shape;213;p27"/>
          <p:cNvSpPr txBox="1"/>
          <p:nvPr>
            <p:ph idx="3" type="body"/>
          </p:nvPr>
        </p:nvSpPr>
        <p:spPr>
          <a:xfrm>
            <a:off x="6111718" y="3357040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7"/>
          <p:cNvSpPr txBox="1"/>
          <p:nvPr>
            <p:ph idx="4" type="body"/>
          </p:nvPr>
        </p:nvSpPr>
        <p:spPr>
          <a:xfrm>
            <a:off x="3296121" y="419738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5" type="body"/>
          </p:nvPr>
        </p:nvSpPr>
        <p:spPr>
          <a:xfrm>
            <a:off x="2073390" y="3277495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27"/>
          <p:cNvSpPr txBox="1"/>
          <p:nvPr>
            <p:ph idx="6" type="body"/>
          </p:nvPr>
        </p:nvSpPr>
        <p:spPr>
          <a:xfrm>
            <a:off x="2368899" y="1608109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7" name="Google Shape;217;p27"/>
          <p:cNvSpPr/>
          <p:nvPr/>
        </p:nvSpPr>
        <p:spPr>
          <a:xfrm>
            <a:off x="4842034" y="3795020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 txBox="1"/>
          <p:nvPr>
            <p:ph idx="7" type="body"/>
          </p:nvPr>
        </p:nvSpPr>
        <p:spPr>
          <a:xfrm>
            <a:off x="4842034" y="416114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Module Objectives_Slide">
  <p:cSld name="8_Module Objectives_Slide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220" name="Google Shape;22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92609" y="1915648"/>
            <a:ext cx="2582407" cy="172160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-17718" y="67455"/>
            <a:ext cx="336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0" y="554964"/>
            <a:ext cx="507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On completing this module, the learner will be able to:</a:t>
            </a:r>
            <a:endParaRPr b="1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8"/>
          <p:cNvSpPr txBox="1"/>
          <p:nvPr>
            <p:ph idx="12" type="sldNum"/>
          </p:nvPr>
        </p:nvSpPr>
        <p:spPr>
          <a:xfrm>
            <a:off x="8391518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28"/>
          <p:cNvSpPr/>
          <p:nvPr/>
        </p:nvSpPr>
        <p:spPr>
          <a:xfrm>
            <a:off x="4003793" y="829953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/>
          <p:nvPr/>
        </p:nvSpPr>
        <p:spPr>
          <a:xfrm rot="2122952">
            <a:off x="5391254" y="1174394"/>
            <a:ext cx="306369" cy="391430"/>
          </a:xfrm>
          <a:custGeom>
            <a:rect b="b" l="l" r="r" t="t"/>
            <a:pathLst>
              <a:path extrusionOk="0" h="521036" w="407810">
                <a:moveTo>
                  <a:pt x="0" y="104207"/>
                </a:moveTo>
                <a:lnTo>
                  <a:pt x="203905" y="104207"/>
                </a:lnTo>
                <a:lnTo>
                  <a:pt x="203905" y="0"/>
                </a:lnTo>
                <a:lnTo>
                  <a:pt x="407810" y="260518"/>
                </a:lnTo>
                <a:lnTo>
                  <a:pt x="203905" y="521036"/>
                </a:lnTo>
                <a:lnTo>
                  <a:pt x="203905" y="416829"/>
                </a:lnTo>
                <a:lnTo>
                  <a:pt x="0" y="416829"/>
                </a:lnTo>
                <a:lnTo>
                  <a:pt x="0" y="104207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0" spcFirstLastPara="1" rIns="9175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5859926" y="1109507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/>
          <p:nvPr/>
        </p:nvSpPr>
        <p:spPr>
          <a:xfrm rot="-2416199">
            <a:off x="6666355" y="3737886"/>
            <a:ext cx="315818" cy="390944"/>
          </a:xfrm>
          <a:custGeom>
            <a:rect b="b" l="l" r="r" t="t"/>
            <a:pathLst>
              <a:path extrusionOk="0" h="521036" w="420910">
                <a:moveTo>
                  <a:pt x="420910" y="416829"/>
                </a:moveTo>
                <a:lnTo>
                  <a:pt x="210455" y="416829"/>
                </a:lnTo>
                <a:lnTo>
                  <a:pt x="210455" y="521036"/>
                </a:lnTo>
                <a:lnTo>
                  <a:pt x="0" y="260518"/>
                </a:lnTo>
                <a:lnTo>
                  <a:pt x="210455" y="0"/>
                </a:lnTo>
                <a:lnTo>
                  <a:pt x="210455" y="104207"/>
                </a:lnTo>
                <a:lnTo>
                  <a:pt x="420910" y="104207"/>
                </a:lnTo>
                <a:lnTo>
                  <a:pt x="420910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470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6092303" y="2442071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3453097" y="4311404"/>
            <a:ext cx="307223" cy="390777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2160970" y="3763450"/>
            <a:ext cx="1157858" cy="1126981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/>
          <p:nvPr/>
        </p:nvSpPr>
        <p:spPr>
          <a:xfrm rot="6731557">
            <a:off x="1837225" y="3677258"/>
            <a:ext cx="306365" cy="389686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2352812" y="1018567"/>
            <a:ext cx="1157858" cy="1157858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/>
          <p:nvPr/>
        </p:nvSpPr>
        <p:spPr>
          <a:xfrm rot="-2154903">
            <a:off x="3582023" y="1037013"/>
            <a:ext cx="307266" cy="390831"/>
          </a:xfrm>
          <a:custGeom>
            <a:rect b="b" l="l" r="r" t="t"/>
            <a:pathLst>
              <a:path extrusionOk="0" h="521036" w="409631">
                <a:moveTo>
                  <a:pt x="0" y="104207"/>
                </a:moveTo>
                <a:lnTo>
                  <a:pt x="204816" y="104207"/>
                </a:lnTo>
                <a:lnTo>
                  <a:pt x="204816" y="0"/>
                </a:lnTo>
                <a:lnTo>
                  <a:pt x="409631" y="260518"/>
                </a:lnTo>
                <a:lnTo>
                  <a:pt x="204816" y="521036"/>
                </a:lnTo>
                <a:lnTo>
                  <a:pt x="204816" y="416829"/>
                </a:lnTo>
                <a:lnTo>
                  <a:pt x="0" y="416829"/>
                </a:lnTo>
                <a:lnTo>
                  <a:pt x="0" y="104207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0" spcFirstLastPara="1" rIns="9215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4040728" y="1170911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28"/>
          <p:cNvSpPr/>
          <p:nvPr/>
        </p:nvSpPr>
        <p:spPr>
          <a:xfrm>
            <a:off x="1612314" y="2442071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/>
          <p:nvPr/>
        </p:nvSpPr>
        <p:spPr>
          <a:xfrm rot="7255858">
            <a:off x="1953233" y="1984301"/>
            <a:ext cx="306822" cy="390266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8"/>
          <p:cNvSpPr txBox="1"/>
          <p:nvPr>
            <p:ph idx="2" type="body"/>
          </p:nvPr>
        </p:nvSpPr>
        <p:spPr>
          <a:xfrm>
            <a:off x="5896862" y="1523642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28"/>
          <p:cNvSpPr txBox="1"/>
          <p:nvPr>
            <p:ph idx="3" type="body"/>
          </p:nvPr>
        </p:nvSpPr>
        <p:spPr>
          <a:xfrm>
            <a:off x="6129239" y="2748137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28"/>
          <p:cNvSpPr txBox="1"/>
          <p:nvPr>
            <p:ph idx="4" type="body"/>
          </p:nvPr>
        </p:nvSpPr>
        <p:spPr>
          <a:xfrm>
            <a:off x="2227774" y="4131433"/>
            <a:ext cx="1084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0" name="Google Shape;240;p28"/>
          <p:cNvSpPr txBox="1"/>
          <p:nvPr>
            <p:ph idx="5" type="body"/>
          </p:nvPr>
        </p:nvSpPr>
        <p:spPr>
          <a:xfrm>
            <a:off x="1648199" y="2779938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1" name="Google Shape;241;p28"/>
          <p:cNvSpPr txBox="1"/>
          <p:nvPr>
            <p:ph idx="6" type="body"/>
          </p:nvPr>
        </p:nvSpPr>
        <p:spPr>
          <a:xfrm>
            <a:off x="2369111" y="1429716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2" name="Google Shape;242;p28"/>
          <p:cNvSpPr/>
          <p:nvPr/>
        </p:nvSpPr>
        <p:spPr>
          <a:xfrm>
            <a:off x="5456506" y="3646677"/>
            <a:ext cx="1157858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8"/>
          <p:cNvSpPr txBox="1"/>
          <p:nvPr>
            <p:ph idx="7" type="body"/>
          </p:nvPr>
        </p:nvSpPr>
        <p:spPr>
          <a:xfrm>
            <a:off x="5483855" y="4052642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28"/>
          <p:cNvSpPr/>
          <p:nvPr/>
        </p:nvSpPr>
        <p:spPr>
          <a:xfrm flipH="1" rot="6208853">
            <a:off x="7052832" y="2085113"/>
            <a:ext cx="307503" cy="391133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8"/>
          <p:cNvSpPr/>
          <p:nvPr/>
        </p:nvSpPr>
        <p:spPr>
          <a:xfrm>
            <a:off x="3879941" y="3849822"/>
            <a:ext cx="1157857" cy="1157857"/>
          </a:xfrm>
          <a:custGeom>
            <a:rect b="b" l="l" r="r" t="t"/>
            <a:pathLst>
              <a:path extrusionOk="0" h="1543810" w="1543810">
                <a:moveTo>
                  <a:pt x="0" y="771905"/>
                </a:moveTo>
                <a:cubicBezTo>
                  <a:pt x="0" y="345594"/>
                  <a:pt x="345594" y="0"/>
                  <a:pt x="771905" y="0"/>
                </a:cubicBezTo>
                <a:cubicBezTo>
                  <a:pt x="1198216" y="0"/>
                  <a:pt x="1543810" y="345594"/>
                  <a:pt x="1543810" y="771905"/>
                </a:cubicBezTo>
                <a:cubicBezTo>
                  <a:pt x="1543810" y="1198216"/>
                  <a:pt x="1198216" y="1543810"/>
                  <a:pt x="771905" y="1543810"/>
                </a:cubicBezTo>
                <a:cubicBezTo>
                  <a:pt x="345594" y="1543810"/>
                  <a:pt x="0" y="1198216"/>
                  <a:pt x="0" y="771905"/>
                </a:cubicBezTo>
                <a:close/>
              </a:path>
            </a:pathLst>
          </a:custGeom>
          <a:gradFill>
            <a:gsLst>
              <a:gs pos="0">
                <a:srgbClr val="F9F9F9"/>
              </a:gs>
              <a:gs pos="35000">
                <a:srgbClr val="FBFBFB"/>
              </a:gs>
              <a:gs pos="100000">
                <a:srgbClr val="FDFDF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178125" lIns="178125" spcFirstLastPara="1" rIns="178125" wrap="square" tIns="1781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8"/>
          <p:cNvSpPr txBox="1"/>
          <p:nvPr>
            <p:ph idx="8" type="body"/>
          </p:nvPr>
        </p:nvSpPr>
        <p:spPr>
          <a:xfrm>
            <a:off x="3894590" y="4229742"/>
            <a:ext cx="1084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p28"/>
          <p:cNvSpPr/>
          <p:nvPr/>
        </p:nvSpPr>
        <p:spPr>
          <a:xfrm>
            <a:off x="5092413" y="4225606"/>
            <a:ext cx="307223" cy="390777"/>
          </a:xfrm>
          <a:custGeom>
            <a:rect b="b" l="l" r="r" t="t"/>
            <a:pathLst>
              <a:path extrusionOk="0" h="521036" w="409631">
                <a:moveTo>
                  <a:pt x="409631" y="416829"/>
                </a:moveTo>
                <a:lnTo>
                  <a:pt x="204815" y="416829"/>
                </a:lnTo>
                <a:lnTo>
                  <a:pt x="204815" y="521036"/>
                </a:lnTo>
                <a:lnTo>
                  <a:pt x="0" y="260518"/>
                </a:lnTo>
                <a:lnTo>
                  <a:pt x="204815" y="0"/>
                </a:lnTo>
                <a:lnTo>
                  <a:pt x="204815" y="104207"/>
                </a:lnTo>
                <a:lnTo>
                  <a:pt x="409631" y="104207"/>
                </a:lnTo>
                <a:lnTo>
                  <a:pt x="409631" y="416829"/>
                </a:lnTo>
                <a:close/>
              </a:path>
            </a:pathLst>
          </a:custGeom>
          <a:gradFill>
            <a:gsLst>
              <a:gs pos="0">
                <a:srgbClr val="D9D9DF"/>
              </a:gs>
              <a:gs pos="35000">
                <a:srgbClr val="E4E4E6"/>
              </a:gs>
              <a:gs pos="100000">
                <a:srgbClr val="F5F5F5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78150" lIns="92150" spcFirstLastPara="1" rIns="0" wrap="square" tIns="78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_ without_slidebar">
  <p:cSld name="2_Conten_ without_slideba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112710" y="-10994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29"/>
          <p:cNvSpPr txBox="1"/>
          <p:nvPr>
            <p:ph idx="2" type="body"/>
          </p:nvPr>
        </p:nvSpPr>
        <p:spPr>
          <a:xfrm>
            <a:off x="112710" y="896750"/>
            <a:ext cx="86091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⮚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Text and Image_Slide">
  <p:cSld name="Content with Text and Image_Slide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4" name="Google Shape;254;p30"/>
          <p:cNvSpPr/>
          <p:nvPr>
            <p:ph idx="2" type="pic"/>
          </p:nvPr>
        </p:nvSpPr>
        <p:spPr>
          <a:xfrm>
            <a:off x="5673779" y="693256"/>
            <a:ext cx="3357300" cy="33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112711" y="-10995"/>
            <a:ext cx="89187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>
                <a:solidFill>
                  <a:srgbClr val="18181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6" name="Google Shape;256;p30"/>
          <p:cNvSpPr txBox="1"/>
          <p:nvPr>
            <p:ph idx="3" type="body"/>
          </p:nvPr>
        </p:nvSpPr>
        <p:spPr>
          <a:xfrm>
            <a:off x="1423468" y="693255"/>
            <a:ext cx="4250400" cy="3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>
                <a:solidFill>
                  <a:srgbClr val="181818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⮚"/>
              <a:defRPr sz="1500">
                <a:solidFill>
                  <a:srgbClr val="181818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  <a:defRPr sz="1500">
                <a:solidFill>
                  <a:srgbClr val="18181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7" name="Google Shape;257;p30"/>
          <p:cNvSpPr/>
          <p:nvPr/>
        </p:nvSpPr>
        <p:spPr>
          <a:xfrm>
            <a:off x="84532" y="587750"/>
            <a:ext cx="1338900" cy="34302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4F6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"/>
          <p:cNvSpPr txBox="1"/>
          <p:nvPr>
            <p:ph idx="4" type="body"/>
          </p:nvPr>
        </p:nvSpPr>
        <p:spPr>
          <a:xfrm>
            <a:off x="84532" y="767225"/>
            <a:ext cx="13389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Image Only_Slide">
  <p:cSld name="Content with Image Only_Slide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1" name="Google Shape;261;p31"/>
          <p:cNvSpPr/>
          <p:nvPr>
            <p:ph idx="2" type="pic"/>
          </p:nvPr>
        </p:nvSpPr>
        <p:spPr>
          <a:xfrm>
            <a:off x="1583650" y="678345"/>
            <a:ext cx="7279500" cy="3339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1"/>
          <p:cNvSpPr txBox="1"/>
          <p:nvPr>
            <p:ph idx="1" type="body"/>
          </p:nvPr>
        </p:nvSpPr>
        <p:spPr>
          <a:xfrm>
            <a:off x="112710" y="-10995"/>
            <a:ext cx="90312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31"/>
          <p:cNvSpPr/>
          <p:nvPr/>
        </p:nvSpPr>
        <p:spPr>
          <a:xfrm>
            <a:off x="84532" y="587750"/>
            <a:ext cx="1338900" cy="34302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4F6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1"/>
          <p:cNvSpPr txBox="1"/>
          <p:nvPr>
            <p:ph idx="3" type="body"/>
          </p:nvPr>
        </p:nvSpPr>
        <p:spPr>
          <a:xfrm>
            <a:off x="84532" y="569247"/>
            <a:ext cx="1338900" cy="3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i="0" sz="9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18181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18181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18181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18181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Points_Slide">
  <p:cSld name="Discussion Points_Slide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group of people dancing&#10;&#10;Description automatically generated with low confidence" id="266" name="Google Shape;266;p32"/>
          <p:cNvSpPr/>
          <p:nvPr/>
        </p:nvSpPr>
        <p:spPr>
          <a:xfrm>
            <a:off x="682885" y="704098"/>
            <a:ext cx="1962600" cy="128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descr="Text, whiteboard&#10;&#10;Description automatically generated" id="267" name="Google Shape;26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8758" y="467879"/>
            <a:ext cx="1759230" cy="175923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2"/>
          <p:cNvSpPr txBox="1"/>
          <p:nvPr/>
        </p:nvSpPr>
        <p:spPr>
          <a:xfrm>
            <a:off x="6683237" y="1990891"/>
            <a:ext cx="1238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2"/>
          <p:cNvSpPr txBox="1"/>
          <p:nvPr>
            <p:ph idx="1" type="body"/>
          </p:nvPr>
        </p:nvSpPr>
        <p:spPr>
          <a:xfrm>
            <a:off x="55475" y="0"/>
            <a:ext cx="49182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>
                <a:solidFill>
                  <a:srgbClr val="18181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0" name="Google Shape;270;p32"/>
          <p:cNvSpPr txBox="1"/>
          <p:nvPr>
            <p:ph idx="2" type="body"/>
          </p:nvPr>
        </p:nvSpPr>
        <p:spPr>
          <a:xfrm>
            <a:off x="108250" y="2405653"/>
            <a:ext cx="3607200" cy="14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i="0" sz="1500">
                <a:solidFill>
                  <a:srgbClr val="181818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  <a:defRPr/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  <a:defRPr/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  <a:defRPr/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1" name="Google Shape;271;p32"/>
          <p:cNvSpPr txBox="1"/>
          <p:nvPr/>
        </p:nvSpPr>
        <p:spPr>
          <a:xfrm>
            <a:off x="820484" y="1927025"/>
            <a:ext cx="2182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Discussion Points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2"/>
          <p:cNvSpPr txBox="1"/>
          <p:nvPr>
            <p:ph idx="3" type="body"/>
          </p:nvPr>
        </p:nvSpPr>
        <p:spPr>
          <a:xfrm>
            <a:off x="5846340" y="2405653"/>
            <a:ext cx="3020700" cy="16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32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cussion Points_Slide">
  <p:cSld name="1_Discussion Points_Slide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group of people dancing&#10;&#10;Description automatically generated with low confidence" id="275" name="Google Shape;275;p33"/>
          <p:cNvSpPr/>
          <p:nvPr/>
        </p:nvSpPr>
        <p:spPr>
          <a:xfrm>
            <a:off x="682885" y="704098"/>
            <a:ext cx="1962600" cy="128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6" name="Google Shape;276;p33"/>
          <p:cNvSpPr txBox="1"/>
          <p:nvPr>
            <p:ph idx="1" type="body"/>
          </p:nvPr>
        </p:nvSpPr>
        <p:spPr>
          <a:xfrm>
            <a:off x="55475" y="0"/>
            <a:ext cx="49182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400">
                <a:solidFill>
                  <a:srgbClr val="18181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2" type="body"/>
          </p:nvPr>
        </p:nvSpPr>
        <p:spPr>
          <a:xfrm>
            <a:off x="820484" y="2338563"/>
            <a:ext cx="69768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i="0" sz="1500">
                <a:solidFill>
                  <a:srgbClr val="181818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  <a:defRPr/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  <a:defRPr/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  <a:defRPr/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8" name="Google Shape;278;p33"/>
          <p:cNvSpPr txBox="1"/>
          <p:nvPr/>
        </p:nvSpPr>
        <p:spPr>
          <a:xfrm>
            <a:off x="820484" y="1927025"/>
            <a:ext cx="2182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Discussion Points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3"/>
          <p:cNvSpPr txBox="1"/>
          <p:nvPr>
            <p:ph idx="3" type="body"/>
          </p:nvPr>
        </p:nvSpPr>
        <p:spPr>
          <a:xfrm>
            <a:off x="5508885" y="4297904"/>
            <a:ext cx="3020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_Slide">
  <p:cSld name="Activity_Slide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3" name="Google Shape;283;p34"/>
          <p:cNvSpPr txBox="1"/>
          <p:nvPr>
            <p:ph idx="1" type="body"/>
          </p:nvPr>
        </p:nvSpPr>
        <p:spPr>
          <a:xfrm>
            <a:off x="-1" y="37060"/>
            <a:ext cx="1490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34"/>
          <p:cNvSpPr txBox="1"/>
          <p:nvPr>
            <p:ph idx="2" type="body"/>
          </p:nvPr>
        </p:nvSpPr>
        <p:spPr>
          <a:xfrm>
            <a:off x="6919370" y="4344065"/>
            <a:ext cx="13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34"/>
          <p:cNvSpPr txBox="1"/>
          <p:nvPr/>
        </p:nvSpPr>
        <p:spPr>
          <a:xfrm flipH="1">
            <a:off x="6026282" y="4344065"/>
            <a:ext cx="112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59333" y="4220994"/>
            <a:ext cx="773386" cy="45038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4"/>
          <p:cNvSpPr txBox="1"/>
          <p:nvPr>
            <p:ph idx="3" type="body"/>
          </p:nvPr>
        </p:nvSpPr>
        <p:spPr>
          <a:xfrm>
            <a:off x="141890" y="1191384"/>
            <a:ext cx="5262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>
                <a:solidFill>
                  <a:srgbClr val="181818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⮚"/>
              <a:defRPr sz="1500">
                <a:solidFill>
                  <a:srgbClr val="181818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  <a:defRPr sz="1500">
                <a:solidFill>
                  <a:srgbClr val="18181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34"/>
          <p:cNvSpPr txBox="1"/>
          <p:nvPr>
            <p:ph idx="4" type="body"/>
          </p:nvPr>
        </p:nvSpPr>
        <p:spPr>
          <a:xfrm>
            <a:off x="0" y="606972"/>
            <a:ext cx="5464800" cy="371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>
                <a:solidFill>
                  <a:srgbClr val="18181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0020" y="471874"/>
            <a:ext cx="1990618" cy="1844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rcise Slide">
  <p:cSld name="Exercise Slide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2" name="Google Shape;292;p35"/>
          <p:cNvSpPr txBox="1"/>
          <p:nvPr>
            <p:ph idx="1" type="body"/>
          </p:nvPr>
        </p:nvSpPr>
        <p:spPr>
          <a:xfrm>
            <a:off x="-1" y="37060"/>
            <a:ext cx="1685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35"/>
          <p:cNvSpPr txBox="1"/>
          <p:nvPr>
            <p:ph idx="2" type="body"/>
          </p:nvPr>
        </p:nvSpPr>
        <p:spPr>
          <a:xfrm>
            <a:off x="89347" y="1176884"/>
            <a:ext cx="5628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⮚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35"/>
          <p:cNvSpPr txBox="1"/>
          <p:nvPr>
            <p:ph idx="3" type="body"/>
          </p:nvPr>
        </p:nvSpPr>
        <p:spPr>
          <a:xfrm>
            <a:off x="-1" y="606972"/>
            <a:ext cx="5717400" cy="371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800">
                <a:solidFill>
                  <a:srgbClr val="18181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95" name="Google Shape;295;p35"/>
          <p:cNvPicPr preferRelativeResize="0"/>
          <p:nvPr/>
        </p:nvPicPr>
        <p:blipFill rotWithShape="1">
          <a:blip r:embed="rId2">
            <a:alphaModFix/>
          </a:blip>
          <a:srcRect b="0" l="0" r="0" t="10225"/>
          <a:stretch/>
        </p:blipFill>
        <p:spPr>
          <a:xfrm>
            <a:off x="6300336" y="1811400"/>
            <a:ext cx="2400300" cy="2154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idx="1" type="body"/>
          </p:nvPr>
        </p:nvSpPr>
        <p:spPr>
          <a:xfrm>
            <a:off x="176921" y="887585"/>
            <a:ext cx="62739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i="0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36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9" name="Google Shape;29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3178" y="952555"/>
            <a:ext cx="2173248" cy="217324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6"/>
          <p:cNvSpPr txBox="1"/>
          <p:nvPr/>
        </p:nvSpPr>
        <p:spPr>
          <a:xfrm>
            <a:off x="111951" y="79409"/>
            <a:ext cx="2050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ummary_Continue">
  <p:cSld name="1_Summary_Continue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176921" y="887585"/>
            <a:ext cx="62739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i="0"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3" name="Google Shape;303;p37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04" name="Google Shape;30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3178" y="952555"/>
            <a:ext cx="2173248" cy="217324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7"/>
          <p:cNvSpPr txBox="1"/>
          <p:nvPr/>
        </p:nvSpPr>
        <p:spPr>
          <a:xfrm>
            <a:off x="111951" y="79409"/>
            <a:ext cx="3679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CQs_Slide">
  <p:cSld name="MCQs_Slide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idx="12" type="sldNum"/>
          </p:nvPr>
        </p:nvSpPr>
        <p:spPr>
          <a:xfrm>
            <a:off x="8465009" y="4747266"/>
            <a:ext cx="471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Graphical user interface&#10;&#10;Description automatically generated" id="308" name="Google Shape;30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5330" y="1015220"/>
            <a:ext cx="2026862" cy="199395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8"/>
          <p:cNvSpPr txBox="1"/>
          <p:nvPr/>
        </p:nvSpPr>
        <p:spPr>
          <a:xfrm>
            <a:off x="1" y="1"/>
            <a:ext cx="3995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Multiple Choice Questions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8"/>
          <p:cNvSpPr txBox="1"/>
          <p:nvPr>
            <p:ph idx="1" type="body"/>
          </p:nvPr>
        </p:nvSpPr>
        <p:spPr>
          <a:xfrm>
            <a:off x="3098923" y="1220362"/>
            <a:ext cx="44070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1" name="Google Shape;311;p38"/>
          <p:cNvSpPr txBox="1"/>
          <p:nvPr>
            <p:ph idx="2" type="body"/>
          </p:nvPr>
        </p:nvSpPr>
        <p:spPr>
          <a:xfrm>
            <a:off x="3125907" y="3009172"/>
            <a:ext cx="44070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2" name="Google Shape;312;p38"/>
          <p:cNvSpPr txBox="1"/>
          <p:nvPr>
            <p:ph idx="3" type="body"/>
          </p:nvPr>
        </p:nvSpPr>
        <p:spPr>
          <a:xfrm>
            <a:off x="3098922" y="1794152"/>
            <a:ext cx="44070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arenR"/>
              <a:defRPr b="0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3" name="Google Shape;313;p38"/>
          <p:cNvSpPr txBox="1"/>
          <p:nvPr>
            <p:ph idx="4" type="body"/>
          </p:nvPr>
        </p:nvSpPr>
        <p:spPr>
          <a:xfrm>
            <a:off x="3125907" y="3397670"/>
            <a:ext cx="44070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arenR"/>
              <a:defRPr b="0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14" name="Google Shape;314;p38"/>
          <p:cNvPicPr preferRelativeResize="0"/>
          <p:nvPr/>
        </p:nvPicPr>
        <p:blipFill rotWithShape="1">
          <a:blip r:embed="rId3">
            <a:alphaModFix/>
          </a:blip>
          <a:srcRect b="15318" l="0" r="0" t="0"/>
          <a:stretch/>
        </p:blipFill>
        <p:spPr>
          <a:xfrm>
            <a:off x="8160399" y="3416549"/>
            <a:ext cx="904486" cy="1033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e card">
  <p:cSld name="Cue card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>
            <p:ph idx="2" type="tbl"/>
          </p:nvPr>
        </p:nvSpPr>
        <p:spPr>
          <a:xfrm>
            <a:off x="262628" y="1373382"/>
            <a:ext cx="6544800" cy="30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39"/>
          <p:cNvSpPr txBox="1"/>
          <p:nvPr/>
        </p:nvSpPr>
        <p:spPr>
          <a:xfrm>
            <a:off x="1" y="70945"/>
            <a:ext cx="4995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Cue Card for Assimilation Check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19" name="Google Shape;319;p39"/>
          <p:cNvGraphicFramePr/>
          <p:nvPr/>
        </p:nvGraphicFramePr>
        <p:xfrm>
          <a:off x="262628" y="824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{E741098E-5105-44D5-8BBC-460F06042A0C}</a:tableStyleId>
              </a:tblPr>
              <a:tblGrid>
                <a:gridCol w="1137650"/>
                <a:gridCol w="3385300"/>
                <a:gridCol w="2021900"/>
              </a:tblGrid>
              <a:tr h="51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Question Number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Correct Answer 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GB" sz="1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Slide Number 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solidFill>
                      <a:srgbClr val="B6B6B6"/>
                    </a:solidFill>
                  </a:tcPr>
                </a:tc>
              </a:tr>
            </a:tbl>
          </a:graphicData>
        </a:graphic>
      </p:graphicFrame>
      <p:pic>
        <p:nvPicPr>
          <p:cNvPr id="320" name="Google Shape;32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8634" y="3300841"/>
            <a:ext cx="1557495" cy="1313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utcomes">
  <p:cSld name="Learning Outcomes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idx="1" type="body"/>
          </p:nvPr>
        </p:nvSpPr>
        <p:spPr>
          <a:xfrm>
            <a:off x="171557" y="1076875"/>
            <a:ext cx="60882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b="0"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3" name="Google Shape;323;p40"/>
          <p:cNvSpPr txBox="1"/>
          <p:nvPr/>
        </p:nvSpPr>
        <p:spPr>
          <a:xfrm>
            <a:off x="1" y="1"/>
            <a:ext cx="302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0"/>
          <p:cNvSpPr txBox="1"/>
          <p:nvPr/>
        </p:nvSpPr>
        <p:spPr>
          <a:xfrm>
            <a:off x="0" y="413504"/>
            <a:ext cx="6730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Congratulations on successful completion of this module!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You will now be able to: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0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picture containing text" id="326" name="Google Shape;3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5140" y="739055"/>
            <a:ext cx="2658860" cy="265886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0"/>
          <p:cNvSpPr txBox="1"/>
          <p:nvPr/>
        </p:nvSpPr>
        <p:spPr>
          <a:xfrm>
            <a:off x="171558" y="3094495"/>
            <a:ext cx="693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Let’s have a look at some references to the topic and the next session details.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se_Study_For_Self-Understanding">
  <p:cSld name="1_Case_Study_For_Self-Understanding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/>
        </p:nvSpPr>
        <p:spPr>
          <a:xfrm>
            <a:off x="0" y="1"/>
            <a:ext cx="1812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Case Study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2035258" y="953794"/>
            <a:ext cx="6967200" cy="27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2" name="Google Shape;33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5901" y="953794"/>
            <a:ext cx="1869357" cy="1869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ferences">
  <p:cSld name="Reference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/>
        </p:nvSpPr>
        <p:spPr>
          <a:xfrm>
            <a:off x="0" y="1"/>
            <a:ext cx="1795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2"/>
          <p:cNvSpPr txBox="1"/>
          <p:nvPr>
            <p:ph idx="1" type="body"/>
          </p:nvPr>
        </p:nvSpPr>
        <p:spPr>
          <a:xfrm>
            <a:off x="3312775" y="953794"/>
            <a:ext cx="5689500" cy="27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6" name="Google Shape;336;p42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7" name="Google Shape;33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772" y="953794"/>
            <a:ext cx="1869357" cy="1869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ession Details">
  <p:cSld name="Next Session Details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>
            <p:ph idx="1" type="body"/>
          </p:nvPr>
        </p:nvSpPr>
        <p:spPr>
          <a:xfrm>
            <a:off x="3457441" y="826708"/>
            <a:ext cx="5513400" cy="30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0" name="Google Shape;340;p43"/>
          <p:cNvSpPr txBox="1"/>
          <p:nvPr/>
        </p:nvSpPr>
        <p:spPr>
          <a:xfrm>
            <a:off x="1" y="1"/>
            <a:ext cx="316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Next Session Details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3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picture containing diagram" id="342" name="Google Shape;342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817" y="826708"/>
            <a:ext cx="2927145" cy="2927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2.xml"/><Relationship Id="rId1" Type="http://schemas.openxmlformats.org/officeDocument/2006/relationships/image" Target="../media/image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29" Type="http://schemas.openxmlformats.org/officeDocument/2006/relationships/slideLayout" Target="../slideLayouts/slideLayout38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31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20.xml"/><Relationship Id="rId33" Type="http://schemas.openxmlformats.org/officeDocument/2006/relationships/theme" Target="../theme/theme3.xml"/><Relationship Id="rId10" Type="http://schemas.openxmlformats.org/officeDocument/2006/relationships/slideLayout" Target="../slideLayouts/slideLayout19.xml"/><Relationship Id="rId32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 with medium confidence"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402" y="4747267"/>
            <a:ext cx="603556" cy="35969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0" y="1"/>
            <a:ext cx="7886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85402" y="710486"/>
            <a:ext cx="7886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5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29403" y="4747267"/>
            <a:ext cx="543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685" r:id="rId29"/>
    <p:sldLayoutId id="2147483686" r:id="rId30"/>
    <p:sldLayoutId id="2147483687" r:id="rId31"/>
    <p:sldLayoutId id="2147483688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Relationship Id="rId4" Type="http://schemas.openxmlformats.org/officeDocument/2006/relationships/image" Target="../media/image30.jpg"/><Relationship Id="rId9" Type="http://schemas.openxmlformats.org/officeDocument/2006/relationships/image" Target="../media/image3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Relationship Id="rId8" Type="http://schemas.openxmlformats.org/officeDocument/2006/relationships/image" Target="../media/image26.png"/><Relationship Id="rId10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3.xml"/><Relationship Id="rId4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4.xml"/><Relationship Id="rId4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Relationship Id="rId7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5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/>
          <p:nvPr>
            <p:ph idx="12" type="sldNum"/>
          </p:nvPr>
        </p:nvSpPr>
        <p:spPr>
          <a:xfrm>
            <a:off x="8426777" y="465605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9" name="Google Shape;349;p44"/>
          <p:cNvSpPr txBox="1"/>
          <p:nvPr>
            <p:ph type="ctrTitle"/>
          </p:nvPr>
        </p:nvSpPr>
        <p:spPr>
          <a:xfrm>
            <a:off x="315525" y="2574150"/>
            <a:ext cx="410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000">
                <a:solidFill>
                  <a:srgbClr val="FC7582"/>
                </a:solidFill>
                <a:latin typeface="Roboto"/>
                <a:ea typeface="Roboto"/>
                <a:cs typeface="Roboto"/>
                <a:sym typeface="Roboto"/>
              </a:rPr>
              <a:t>Use Case - </a:t>
            </a:r>
            <a:r>
              <a:rPr lang="en-GB" sz="2000">
                <a:solidFill>
                  <a:srgbClr val="FC7582"/>
                </a:solidFill>
                <a:latin typeface="Roboto"/>
                <a:ea typeface="Roboto"/>
                <a:cs typeface="Roboto"/>
                <a:sym typeface="Roboto"/>
              </a:rPr>
              <a:t>Payment Processing</a:t>
            </a:r>
            <a:endParaRPr sz="2000">
              <a:solidFill>
                <a:srgbClr val="FC758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670700" y="720550"/>
            <a:ext cx="3348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E78F8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E78F8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rgbClr val="E78F81"/>
                </a:solidFill>
                <a:latin typeface="Roboto"/>
                <a:ea typeface="Roboto"/>
                <a:cs typeface="Roboto"/>
                <a:sym typeface="Roboto"/>
              </a:rPr>
              <a:t>“Secure And Efficient Digital Payment Solution”</a:t>
            </a:r>
            <a:r>
              <a:rPr i="1" lang="en-GB" sz="2100">
                <a:solidFill>
                  <a:srgbClr val="E78F81"/>
                </a:solidFill>
              </a:rPr>
              <a:t> </a:t>
            </a:r>
            <a:endParaRPr i="1" sz="1200">
              <a:solidFill>
                <a:srgbClr val="E78F81"/>
              </a:solidFill>
            </a:endParaRPr>
          </a:p>
        </p:txBody>
      </p:sp>
      <p:pic>
        <p:nvPicPr>
          <p:cNvPr id="351" name="Google Shape;35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350" y="2419125"/>
            <a:ext cx="4928850" cy="280617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4"/>
          <p:cNvSpPr txBox="1"/>
          <p:nvPr/>
        </p:nvSpPr>
        <p:spPr>
          <a:xfrm>
            <a:off x="1470875" y="758400"/>
            <a:ext cx="1579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F85980"/>
                </a:solidFill>
                <a:latin typeface="Roboto"/>
                <a:ea typeface="Roboto"/>
                <a:cs typeface="Roboto"/>
                <a:sym typeface="Roboto"/>
              </a:rPr>
              <a:t>EZ-Pay </a:t>
            </a:r>
            <a:endParaRPr sz="2200">
              <a:solidFill>
                <a:srgbClr val="18181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descr="Outside Tier Circle" id="359" name="Google Shape;359;p45"/>
          <p:cNvSpPr/>
          <p:nvPr/>
        </p:nvSpPr>
        <p:spPr>
          <a:xfrm>
            <a:off x="514554" y="0"/>
            <a:ext cx="8203317" cy="5143500"/>
          </a:xfrm>
          <a:custGeom>
            <a:rect b="b" l="l" r="r" t="t"/>
            <a:pathLst>
              <a:path extrusionOk="0" h="6858000" w="10937756">
                <a:moveTo>
                  <a:pt x="1784518" y="0"/>
                </a:moveTo>
                <a:lnTo>
                  <a:pt x="9153238" y="0"/>
                </a:lnTo>
                <a:lnTo>
                  <a:pt x="9335959" y="174208"/>
                </a:lnTo>
                <a:cubicBezTo>
                  <a:pt x="10325631" y="1163881"/>
                  <a:pt x="10937756" y="2531100"/>
                  <a:pt x="10937756" y="4041289"/>
                </a:cubicBezTo>
                <a:cubicBezTo>
                  <a:pt x="10937756" y="4985157"/>
                  <a:pt x="10698645" y="5873178"/>
                  <a:pt x="10277692" y="6648081"/>
                </a:cubicBezTo>
                <a:lnTo>
                  <a:pt x="10156991" y="6858000"/>
                </a:lnTo>
                <a:lnTo>
                  <a:pt x="780765" y="6858000"/>
                </a:lnTo>
                <a:lnTo>
                  <a:pt x="660064" y="6648081"/>
                </a:lnTo>
                <a:cubicBezTo>
                  <a:pt x="239111" y="5873178"/>
                  <a:pt x="0" y="4985157"/>
                  <a:pt x="0" y="4041289"/>
                </a:cubicBezTo>
                <a:cubicBezTo>
                  <a:pt x="0" y="2531100"/>
                  <a:pt x="612125" y="1163881"/>
                  <a:pt x="1601797" y="174208"/>
                </a:cubicBezTo>
                <a:close/>
              </a:path>
            </a:pathLst>
          </a:custGeom>
          <a:solidFill>
            <a:srgbClr val="CECECE">
              <a:alpha val="9410"/>
            </a:srgbClr>
          </a:solidFill>
          <a:ln cap="flat" cmpd="sng" w="38100">
            <a:solidFill>
              <a:srgbClr val="FFF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Second Tier Hierarchy Color Large Circle" id="360" name="Google Shape;360;p45"/>
          <p:cNvSpPr/>
          <p:nvPr/>
        </p:nvSpPr>
        <p:spPr>
          <a:xfrm>
            <a:off x="4833398" y="3319142"/>
            <a:ext cx="1485000" cy="1485000"/>
          </a:xfrm>
          <a:prstGeom prst="ellipse">
            <a:avLst/>
          </a:prstGeom>
          <a:solidFill>
            <a:srgbClr val="FFCFB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Second Tier Hierarchy Color Large Circle" id="361" name="Google Shape;361;p45"/>
          <p:cNvSpPr/>
          <p:nvPr/>
        </p:nvSpPr>
        <p:spPr>
          <a:xfrm>
            <a:off x="4833398" y="1322463"/>
            <a:ext cx="1485000" cy="1485000"/>
          </a:xfrm>
          <a:prstGeom prst="ellipse">
            <a:avLst/>
          </a:prstGeom>
          <a:solidFill>
            <a:srgbClr val="E78F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Second Tier Hierarchy Color Large Circle" id="362" name="Google Shape;362;p45"/>
          <p:cNvSpPr/>
          <p:nvPr/>
        </p:nvSpPr>
        <p:spPr>
          <a:xfrm>
            <a:off x="2881114" y="3326285"/>
            <a:ext cx="1485000" cy="1485000"/>
          </a:xfrm>
          <a:prstGeom prst="ellipse">
            <a:avLst/>
          </a:prstGeom>
          <a:solidFill>
            <a:srgbClr val="E78F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Second Tier Hierarchy Color Large Circle" id="363" name="Google Shape;363;p45"/>
          <p:cNvSpPr/>
          <p:nvPr/>
        </p:nvSpPr>
        <p:spPr>
          <a:xfrm>
            <a:off x="2881114" y="1365476"/>
            <a:ext cx="1485000" cy="1485000"/>
          </a:xfrm>
          <a:prstGeom prst="ellipse">
            <a:avLst/>
          </a:prstGeom>
          <a:solidFill>
            <a:srgbClr val="FFCFB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Mid Tier Circle" id="364" name="Google Shape;364;p45"/>
          <p:cNvSpPr/>
          <p:nvPr/>
        </p:nvSpPr>
        <p:spPr>
          <a:xfrm>
            <a:off x="2802777" y="1308299"/>
            <a:ext cx="3479100" cy="3479100"/>
          </a:xfrm>
          <a:prstGeom prst="ellipse">
            <a:avLst/>
          </a:prstGeom>
          <a:solidFill>
            <a:srgbClr val="E6E6E6">
              <a:alpha val="67450"/>
            </a:srgbClr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High Tier Cricle" id="365" name="Google Shape;365;p45"/>
          <p:cNvSpPr/>
          <p:nvPr/>
        </p:nvSpPr>
        <p:spPr>
          <a:xfrm>
            <a:off x="3457540" y="1950279"/>
            <a:ext cx="2189400" cy="2189400"/>
          </a:xfrm>
          <a:prstGeom prst="ellipse">
            <a:avLst/>
          </a:prstGeom>
          <a:solidFill>
            <a:srgbClr val="FAF7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1857325" y="-51925"/>
            <a:ext cx="55242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Team Members 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45"/>
          <p:cNvSpPr/>
          <p:nvPr/>
        </p:nvSpPr>
        <p:spPr>
          <a:xfrm>
            <a:off x="698126" y="2119275"/>
            <a:ext cx="1669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orbel"/>
              <a:buNone/>
            </a:pPr>
            <a:r>
              <a:rPr b="1" lang="en-GB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Amrutha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/>
          <p:cNvSpPr/>
          <p:nvPr/>
        </p:nvSpPr>
        <p:spPr>
          <a:xfrm>
            <a:off x="559691" y="3911075"/>
            <a:ext cx="19647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orbel"/>
              <a:buNone/>
            </a:pPr>
            <a:r>
              <a:rPr b="1" lang="en-GB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Prerak</a:t>
            </a:r>
            <a:endParaRPr b="0" i="0" sz="1400" u="none" cap="none" strike="noStrike">
              <a:solidFill>
                <a:srgbClr val="3F3F3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9" name="Google Shape;369;p45"/>
          <p:cNvSpPr/>
          <p:nvPr/>
        </p:nvSpPr>
        <p:spPr>
          <a:xfrm>
            <a:off x="6716503" y="2162121"/>
            <a:ext cx="15711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None/>
            </a:pPr>
            <a:r>
              <a:rPr b="1" lang="en-GB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Deepshika</a:t>
            </a:r>
            <a:endParaRPr b="0" i="0" sz="1400" u="none" cap="none" strike="noStrike">
              <a:solidFill>
                <a:srgbClr val="3F3F3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0" name="Google Shape;370;p45"/>
          <p:cNvSpPr/>
          <p:nvPr/>
        </p:nvSpPr>
        <p:spPr>
          <a:xfrm>
            <a:off x="6667203" y="3966588"/>
            <a:ext cx="2248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orbel"/>
              <a:buNone/>
            </a:pPr>
            <a:r>
              <a:rPr b="1" lang="en-GB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Atishay</a:t>
            </a:r>
            <a:endParaRPr b="0" i="0" sz="1400" u="none" cap="none" strike="noStrike">
              <a:solidFill>
                <a:srgbClr val="3F3F3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3786522" y="434550"/>
            <a:ext cx="1571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orbel"/>
              <a:buNone/>
            </a:pPr>
            <a:r>
              <a:rPr b="1" lang="en-GB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Meghna</a:t>
            </a:r>
            <a:endParaRPr b="0" i="0" sz="1400" u="none" cap="none" strike="noStrike">
              <a:solidFill>
                <a:srgbClr val="3F3F3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Second Tier Hierarchy Color Small Circle" id="372" name="Google Shape;372;p45"/>
          <p:cNvSpPr/>
          <p:nvPr/>
        </p:nvSpPr>
        <p:spPr>
          <a:xfrm>
            <a:off x="3485566" y="2482579"/>
            <a:ext cx="160200" cy="160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Second Tier Hierarchy Color Small Circle" id="373" name="Google Shape;373;p45"/>
          <p:cNvSpPr/>
          <p:nvPr/>
        </p:nvSpPr>
        <p:spPr>
          <a:xfrm>
            <a:off x="5460726" y="2535578"/>
            <a:ext cx="160200" cy="16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74" name="Google Shape;374;p45"/>
          <p:cNvPicPr preferRelativeResize="0"/>
          <p:nvPr/>
        </p:nvPicPr>
        <p:blipFill rotWithShape="1">
          <a:blip r:embed="rId3">
            <a:alphaModFix/>
          </a:blip>
          <a:srcRect b="82825" l="-159340" r="159340" t="-71580"/>
          <a:stretch/>
        </p:blipFill>
        <p:spPr>
          <a:xfrm>
            <a:off x="5638583" y="1943842"/>
            <a:ext cx="907800" cy="907800"/>
          </a:xfrm>
          <a:prstGeom prst="ellipse">
            <a:avLst/>
          </a:prstGeom>
          <a:noFill/>
          <a:ln>
            <a:noFill/>
          </a:ln>
        </p:spPr>
      </p:pic>
      <p:sp>
        <p:nvSpPr>
          <p:cNvPr descr="Second Tier Hierarchy Color Small Circle" id="375" name="Google Shape;375;p45"/>
          <p:cNvSpPr/>
          <p:nvPr/>
        </p:nvSpPr>
        <p:spPr>
          <a:xfrm>
            <a:off x="4527336" y="1858277"/>
            <a:ext cx="160200" cy="16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3562953" y="2807025"/>
            <a:ext cx="19647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orbel"/>
              <a:buNone/>
            </a:pPr>
            <a:r>
              <a:rPr b="1" lang="en-GB" sz="1400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Squad </a:t>
            </a:r>
            <a:r>
              <a:rPr b="1" lang="en-GB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3F3F3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Second Tier Hierarchy Color Small Circle" id="377" name="Google Shape;377;p45"/>
          <p:cNvSpPr/>
          <p:nvPr/>
        </p:nvSpPr>
        <p:spPr>
          <a:xfrm>
            <a:off x="5129521" y="3833776"/>
            <a:ext cx="160200" cy="16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Second Tier Hierarchy Color Small Circle" id="378" name="Google Shape;378;p45"/>
          <p:cNvSpPr/>
          <p:nvPr/>
        </p:nvSpPr>
        <p:spPr>
          <a:xfrm>
            <a:off x="3872221" y="3833776"/>
            <a:ext cx="160200" cy="16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79" name="Google Shape;37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850" y="1898344"/>
            <a:ext cx="957600" cy="95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8625" y="632244"/>
            <a:ext cx="957600" cy="95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0200" y="1970607"/>
            <a:ext cx="957600" cy="95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4251" y="3631574"/>
            <a:ext cx="907800" cy="9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476" y="3631574"/>
            <a:ext cx="907800" cy="9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90" name="Google Shape;390;p46"/>
          <p:cNvGraphicFramePr/>
          <p:nvPr/>
        </p:nvGraphicFramePr>
        <p:xfrm>
          <a:off x="457223" y="782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{42E33D48-5917-4589-B26D-C9F068CA7E0E}</a:tableStyleId>
              </a:tblPr>
              <a:tblGrid>
                <a:gridCol w="1009500"/>
                <a:gridCol w="3883275"/>
              </a:tblGrid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S. no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8F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Topic Name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8F81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Technical Requirement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 Diagram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 Diagram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 Diagram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Functionalities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Advantages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Timeline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CD"/>
                    </a:solidFill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B3"/>
                    </a:solidFill>
                  </a:tcPr>
                </a:tc>
              </a:tr>
            </a:tbl>
          </a:graphicData>
        </a:graphic>
      </p:graphicFrame>
      <p:sp>
        <p:nvSpPr>
          <p:cNvPr id="391" name="Google Shape;391;p46"/>
          <p:cNvSpPr/>
          <p:nvPr/>
        </p:nvSpPr>
        <p:spPr>
          <a:xfrm>
            <a:off x="6762025" y="2468600"/>
            <a:ext cx="1509600" cy="163830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idx="1" type="body"/>
          </p:nvPr>
        </p:nvSpPr>
        <p:spPr>
          <a:xfrm>
            <a:off x="112710" y="49257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800">
                <a:solidFill>
                  <a:schemeClr val="dk1"/>
                </a:solidFill>
              </a:rPr>
              <a:t>Introduction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98" name="Google Shape;398;p47"/>
          <p:cNvSpPr txBox="1"/>
          <p:nvPr>
            <p:ph idx="2" type="body"/>
          </p:nvPr>
        </p:nvSpPr>
        <p:spPr>
          <a:xfrm>
            <a:off x="6044609" y="628121"/>
            <a:ext cx="2316900" cy="3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1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/>
              <a:t> </a:t>
            </a:r>
            <a:endParaRPr sz="1400"/>
          </a:p>
        </p:txBody>
      </p:sp>
      <p:sp>
        <p:nvSpPr>
          <p:cNvPr id="399" name="Google Shape;399;p47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400" name="Google Shape;400;p47"/>
          <p:cNvSpPr/>
          <p:nvPr/>
        </p:nvSpPr>
        <p:spPr>
          <a:xfrm>
            <a:off x="172547" y="758275"/>
            <a:ext cx="1245600" cy="3450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47"/>
          <p:cNvGrpSpPr/>
          <p:nvPr/>
        </p:nvGrpSpPr>
        <p:grpSpPr>
          <a:xfrm>
            <a:off x="6678676" y="731686"/>
            <a:ext cx="1942204" cy="3761415"/>
            <a:chOff x="544161" y="-148205"/>
            <a:chExt cx="2589605" cy="5329292"/>
          </a:xfrm>
        </p:grpSpPr>
        <p:sp>
          <p:nvSpPr>
            <p:cNvPr id="402" name="Google Shape;402;p47"/>
            <p:cNvSpPr/>
            <p:nvPr/>
          </p:nvSpPr>
          <p:spPr>
            <a:xfrm>
              <a:off x="544161" y="1801"/>
              <a:ext cx="2589600" cy="1553700"/>
            </a:xfrm>
            <a:prstGeom prst="rect">
              <a:avLst/>
            </a:prstGeom>
            <a:solidFill>
              <a:srgbClr val="92D0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7"/>
            <p:cNvSpPr txBox="1"/>
            <p:nvPr/>
          </p:nvSpPr>
          <p:spPr>
            <a:xfrm>
              <a:off x="544166" y="-148205"/>
              <a:ext cx="2589600" cy="18537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48575" lIns="48575" spcFirstLastPara="1" rIns="48575" wrap="square" tIns="4857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GB" sz="12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Users can initiate transactions and choose the mode of payment.</a:t>
              </a:r>
              <a:endParaRPr sz="12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4" name="Google Shape;404;p47"/>
            <p:cNvSpPr/>
            <p:nvPr/>
          </p:nvSpPr>
          <p:spPr>
            <a:xfrm>
              <a:off x="544161" y="1814594"/>
              <a:ext cx="2589600" cy="1553700"/>
            </a:xfrm>
            <a:prstGeom prst="rect">
              <a:avLst/>
            </a:prstGeom>
            <a:solidFill>
              <a:srgbClr val="849DD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7"/>
            <p:cNvSpPr txBox="1"/>
            <p:nvPr/>
          </p:nvSpPr>
          <p:spPr>
            <a:xfrm>
              <a:off x="544161" y="1814594"/>
              <a:ext cx="2589600" cy="15537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48575" lIns="48575" spcFirstLastPara="1" rIns="48575" wrap="square" tIns="4857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GB" sz="12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Simplistic and user-friendly interface for great user experience.</a:t>
              </a:r>
              <a:endParaRPr i="0" sz="1100" u="none" cap="none" strike="noStrike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47"/>
            <p:cNvSpPr/>
            <p:nvPr/>
          </p:nvSpPr>
          <p:spPr>
            <a:xfrm>
              <a:off x="544161" y="3627387"/>
              <a:ext cx="2589600" cy="1553700"/>
            </a:xfrm>
            <a:prstGeom prst="rect">
              <a:avLst/>
            </a:prstGeom>
            <a:solidFill>
              <a:srgbClr val="FFC00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7"/>
            <p:cNvSpPr txBox="1"/>
            <p:nvPr/>
          </p:nvSpPr>
          <p:spPr>
            <a:xfrm>
              <a:off x="544161" y="3627387"/>
              <a:ext cx="2589600" cy="15537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48575" lIns="48575" spcFirstLastPara="1" rIns="48575" wrap="square" tIns="4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GB" sz="12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Real-time tracking of transactions, and keeping customers </a:t>
              </a:r>
              <a:endParaRPr sz="12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GB" sz="12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informed.</a:t>
              </a:r>
              <a:endParaRPr sz="12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08" name="Google Shape;4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850" y="1017950"/>
            <a:ext cx="3761425" cy="37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7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idx="1" type="body"/>
          </p:nvPr>
        </p:nvSpPr>
        <p:spPr>
          <a:xfrm>
            <a:off x="112710" y="49257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800">
                <a:solidFill>
                  <a:schemeClr val="dk1"/>
                </a:solidFill>
              </a:rPr>
              <a:t>Objectives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16" name="Google Shape;416;p48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417" name="Google Shape;417;p48"/>
          <p:cNvSpPr/>
          <p:nvPr/>
        </p:nvSpPr>
        <p:spPr>
          <a:xfrm>
            <a:off x="172547" y="1071357"/>
            <a:ext cx="1245600" cy="3450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8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9" name="Google Shape;419;p48"/>
          <p:cNvSpPr txBox="1"/>
          <p:nvPr>
            <p:ph idx="12" type="sldNum"/>
          </p:nvPr>
        </p:nvSpPr>
        <p:spPr>
          <a:xfrm>
            <a:off x="6477429" y="3405118"/>
            <a:ext cx="310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20" name="Google Shape;420;p48"/>
          <p:cNvGrpSpPr/>
          <p:nvPr/>
        </p:nvGrpSpPr>
        <p:grpSpPr>
          <a:xfrm>
            <a:off x="5476453" y="2593752"/>
            <a:ext cx="1503751" cy="1093175"/>
            <a:chOff x="2683803" y="2543425"/>
            <a:chExt cx="1712700" cy="1270690"/>
          </a:xfrm>
        </p:grpSpPr>
        <p:sp>
          <p:nvSpPr>
            <p:cNvPr id="421" name="Google Shape;421;p48"/>
            <p:cNvSpPr txBox="1"/>
            <p:nvPr/>
          </p:nvSpPr>
          <p:spPr>
            <a:xfrm>
              <a:off x="3191705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424" name="Google Shape;424;p48"/>
            <p:cNvSpPr txBox="1"/>
            <p:nvPr/>
          </p:nvSpPr>
          <p:spPr>
            <a:xfrm>
              <a:off x="2725278" y="3189515"/>
              <a:ext cx="1624200" cy="6246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2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Tracking</a:t>
              </a:r>
              <a:endParaRPr b="1" sz="1200">
                <a:solidFill>
                  <a:srgbClr val="181818"/>
                </a:solidFill>
              </a:endParaRPr>
            </a:p>
          </p:txBody>
        </p:sp>
        <p:sp>
          <p:nvSpPr>
            <p:cNvPr id="425" name="Google Shape;425;p48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48"/>
          <p:cNvGrpSpPr/>
          <p:nvPr/>
        </p:nvGrpSpPr>
        <p:grpSpPr>
          <a:xfrm>
            <a:off x="3670090" y="2593767"/>
            <a:ext cx="1448088" cy="1093179"/>
            <a:chOff x="2683803" y="2543425"/>
            <a:chExt cx="1712700" cy="1270695"/>
          </a:xfrm>
        </p:grpSpPr>
        <p:sp>
          <p:nvSpPr>
            <p:cNvPr id="427" name="Google Shape;427;p48"/>
            <p:cNvSpPr txBox="1"/>
            <p:nvPr/>
          </p:nvSpPr>
          <p:spPr>
            <a:xfrm>
              <a:off x="3191705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8" name="Google Shape;428;p48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8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430" name="Google Shape;430;p48"/>
            <p:cNvSpPr txBox="1"/>
            <p:nvPr/>
          </p:nvSpPr>
          <p:spPr>
            <a:xfrm>
              <a:off x="2683803" y="3189520"/>
              <a:ext cx="1712700" cy="6246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200">
                  <a:latin typeface="Roboto"/>
                  <a:ea typeface="Roboto"/>
                  <a:cs typeface="Roboto"/>
                  <a:sym typeface="Roboto"/>
                </a:rPr>
                <a:t>Authorization</a:t>
              </a:r>
              <a:endParaRPr b="1" sz="1200"/>
            </a:p>
          </p:txBody>
        </p:sp>
        <p:sp>
          <p:nvSpPr>
            <p:cNvPr id="431" name="Google Shape;431;p48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48"/>
          <p:cNvGrpSpPr/>
          <p:nvPr/>
        </p:nvGrpSpPr>
        <p:grpSpPr>
          <a:xfrm>
            <a:off x="4579210" y="1456556"/>
            <a:ext cx="1366113" cy="1072582"/>
            <a:chOff x="1635955" y="1221570"/>
            <a:chExt cx="1718598" cy="1246754"/>
          </a:xfrm>
        </p:grpSpPr>
        <p:sp>
          <p:nvSpPr>
            <p:cNvPr id="433" name="Google Shape;433;p48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434" name="Google Shape;434;p48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8"/>
            <p:cNvSpPr txBox="1"/>
            <p:nvPr/>
          </p:nvSpPr>
          <p:spPr>
            <a:xfrm>
              <a:off x="1635955" y="1242416"/>
              <a:ext cx="1712700" cy="6618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endParaRPr b="1" sz="1000">
                <a:solidFill>
                  <a:srgbClr val="181818"/>
                </a:solidFill>
              </a:endParaRPr>
            </a:p>
          </p:txBody>
        </p:sp>
        <p:sp>
          <p:nvSpPr>
            <p:cNvPr id="436" name="Google Shape;436;p48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" name="Google Shape;437;p48"/>
          <p:cNvGrpSpPr/>
          <p:nvPr/>
        </p:nvGrpSpPr>
        <p:grpSpPr>
          <a:xfrm>
            <a:off x="6389717" y="1469544"/>
            <a:ext cx="1448088" cy="1081188"/>
            <a:chOff x="1641853" y="1211566"/>
            <a:chExt cx="1712700" cy="1256757"/>
          </a:xfrm>
        </p:grpSpPr>
        <p:sp>
          <p:nvSpPr>
            <p:cNvPr id="438" name="Google Shape;438;p48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439" name="Google Shape;439;p48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8"/>
            <p:cNvSpPr txBox="1"/>
            <p:nvPr/>
          </p:nvSpPr>
          <p:spPr>
            <a:xfrm>
              <a:off x="1641948" y="1211566"/>
              <a:ext cx="1669200" cy="7035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F</a:t>
              </a:r>
              <a:r>
                <a:rPr b="1" lang="en-GB" sz="12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ailures</a:t>
              </a:r>
              <a:endParaRPr b="1" sz="1000">
                <a:solidFill>
                  <a:srgbClr val="181818"/>
                </a:solidFill>
              </a:endParaRPr>
            </a:p>
          </p:txBody>
        </p:sp>
        <p:sp>
          <p:nvSpPr>
            <p:cNvPr id="441" name="Google Shape;441;p48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2" name="Google Shape;442;p48"/>
          <p:cNvCxnSpPr/>
          <p:nvPr/>
        </p:nvCxnSpPr>
        <p:spPr>
          <a:xfrm flipH="1" rot="10800000">
            <a:off x="2657775" y="2450497"/>
            <a:ext cx="762300" cy="2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48"/>
          <p:cNvCxnSpPr>
            <a:stCxn id="444" idx="5"/>
            <a:endCxn id="428" idx="1"/>
          </p:cNvCxnSpPr>
          <p:nvPr/>
        </p:nvCxnSpPr>
        <p:spPr>
          <a:xfrm>
            <a:off x="3572469" y="2453006"/>
            <a:ext cx="753900" cy="21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5" name="Google Shape;445;p48"/>
          <p:cNvGrpSpPr/>
          <p:nvPr/>
        </p:nvGrpSpPr>
        <p:grpSpPr>
          <a:xfrm>
            <a:off x="2752607" y="1456559"/>
            <a:ext cx="1506244" cy="1072582"/>
            <a:chOff x="1639013" y="1221570"/>
            <a:chExt cx="1715540" cy="1246754"/>
          </a:xfrm>
        </p:grpSpPr>
        <p:sp>
          <p:nvSpPr>
            <p:cNvPr id="446" name="Google Shape;446;p48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447" name="Google Shape;447;p48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8"/>
            <p:cNvSpPr txBox="1"/>
            <p:nvPr/>
          </p:nvSpPr>
          <p:spPr>
            <a:xfrm>
              <a:off x="1639013" y="1242413"/>
              <a:ext cx="1712700" cy="6618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Roboto"/>
                  <a:ea typeface="Roboto"/>
                  <a:cs typeface="Roboto"/>
                  <a:sym typeface="Roboto"/>
                </a:rPr>
                <a:t> Initiation</a:t>
              </a:r>
              <a:endParaRPr b="1" sz="1000"/>
            </a:p>
          </p:txBody>
        </p:sp>
        <p:sp>
          <p:nvSpPr>
            <p:cNvPr id="444" name="Google Shape;444;p48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9" name="Google Shape;449;p48"/>
          <p:cNvCxnSpPr/>
          <p:nvPr/>
        </p:nvCxnSpPr>
        <p:spPr>
          <a:xfrm flipH="1" rot="10800000">
            <a:off x="6308128" y="2455841"/>
            <a:ext cx="720300" cy="24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48"/>
          <p:cNvCxnSpPr>
            <a:stCxn id="436" idx="5"/>
          </p:cNvCxnSpPr>
          <p:nvPr/>
        </p:nvCxnSpPr>
        <p:spPr>
          <a:xfrm>
            <a:off x="5323906" y="2453003"/>
            <a:ext cx="834000" cy="21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48"/>
          <p:cNvCxnSpPr/>
          <p:nvPr/>
        </p:nvCxnSpPr>
        <p:spPr>
          <a:xfrm>
            <a:off x="7178300" y="2468715"/>
            <a:ext cx="834000" cy="21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8"/>
          <p:cNvCxnSpPr>
            <a:stCxn id="428" idx="6"/>
          </p:cNvCxnSpPr>
          <p:nvPr/>
        </p:nvCxnSpPr>
        <p:spPr>
          <a:xfrm flipH="1" rot="10800000">
            <a:off x="4450626" y="2460744"/>
            <a:ext cx="733800" cy="19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"/>
          <p:cNvSpPr txBox="1"/>
          <p:nvPr>
            <p:ph idx="1" type="body"/>
          </p:nvPr>
        </p:nvSpPr>
        <p:spPr>
          <a:xfrm>
            <a:off x="188910" y="49257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800">
                <a:solidFill>
                  <a:schemeClr val="dk1"/>
                </a:solidFill>
              </a:rPr>
              <a:t>Assumptions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59" name="Google Shape;459;p49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460" name="Google Shape;460;p49"/>
          <p:cNvSpPr/>
          <p:nvPr/>
        </p:nvSpPr>
        <p:spPr>
          <a:xfrm>
            <a:off x="172547" y="1071357"/>
            <a:ext cx="1245600" cy="3450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2" name="Google Shape;462;p49"/>
          <p:cNvSpPr txBox="1"/>
          <p:nvPr/>
        </p:nvSpPr>
        <p:spPr>
          <a:xfrm>
            <a:off x="3124200" y="1171800"/>
            <a:ext cx="1897500" cy="655200"/>
          </a:xfrm>
          <a:prstGeom prst="rect">
            <a:avLst/>
          </a:prstGeom>
          <a:solidFill>
            <a:srgbClr val="E78F8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1818"/>
                </a:solidFill>
              </a:rPr>
              <a:t>User is </a:t>
            </a:r>
            <a:r>
              <a:rPr lang="en-GB">
                <a:solidFill>
                  <a:srgbClr val="181818"/>
                </a:solidFill>
              </a:rPr>
              <a:t>logged</a:t>
            </a:r>
            <a:r>
              <a:rPr lang="en-GB">
                <a:solidFill>
                  <a:srgbClr val="181818"/>
                </a:solidFill>
              </a:rPr>
              <a:t> in successfully.</a:t>
            </a:r>
            <a:endParaRPr>
              <a:solidFill>
                <a:srgbClr val="181818"/>
              </a:solidFill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3124200" y="2482200"/>
            <a:ext cx="1897500" cy="834300"/>
          </a:xfrm>
          <a:prstGeom prst="rect">
            <a:avLst/>
          </a:prstGeom>
          <a:solidFill>
            <a:srgbClr val="E78F8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1818"/>
                </a:solidFill>
              </a:rPr>
              <a:t>User has registered and verified bank account details.</a:t>
            </a:r>
            <a:endParaRPr>
              <a:solidFill>
                <a:srgbClr val="181818"/>
              </a:solidFill>
            </a:endParaRPr>
          </a:p>
        </p:txBody>
      </p:sp>
      <p:sp>
        <p:nvSpPr>
          <p:cNvPr id="464" name="Google Shape;464;p49"/>
          <p:cNvSpPr txBox="1"/>
          <p:nvPr/>
        </p:nvSpPr>
        <p:spPr>
          <a:xfrm>
            <a:off x="5021700" y="1827000"/>
            <a:ext cx="1897500" cy="655200"/>
          </a:xfrm>
          <a:prstGeom prst="rect">
            <a:avLst/>
          </a:prstGeom>
          <a:solidFill>
            <a:srgbClr val="FFCFB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1818"/>
                </a:solidFill>
              </a:rPr>
              <a:t>User has a registered  and linked UPI ID.</a:t>
            </a:r>
            <a:endParaRPr>
              <a:solidFill>
                <a:srgbClr val="181818"/>
              </a:solidFill>
            </a:endParaRPr>
          </a:p>
        </p:txBody>
      </p:sp>
      <p:sp>
        <p:nvSpPr>
          <p:cNvPr id="465" name="Google Shape;465;p49"/>
          <p:cNvSpPr txBox="1"/>
          <p:nvPr/>
        </p:nvSpPr>
        <p:spPr>
          <a:xfrm>
            <a:off x="5021700" y="3316500"/>
            <a:ext cx="1897500" cy="655200"/>
          </a:xfrm>
          <a:prstGeom prst="rect">
            <a:avLst/>
          </a:prstGeom>
          <a:solidFill>
            <a:srgbClr val="FFCFB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1818"/>
                </a:solidFill>
              </a:rPr>
              <a:t>Users provide accurate information.</a:t>
            </a:r>
            <a:endParaRPr>
              <a:solidFill>
                <a:srgbClr val="18181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idx="1" type="body"/>
          </p:nvPr>
        </p:nvSpPr>
        <p:spPr>
          <a:xfrm>
            <a:off x="112700" y="49251"/>
            <a:ext cx="90312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300">
                <a:solidFill>
                  <a:schemeClr val="dk1"/>
                </a:solidFill>
              </a:rPr>
              <a:t>Payment Workflow</a:t>
            </a:r>
            <a:endParaRPr sz="2300"/>
          </a:p>
        </p:txBody>
      </p:sp>
      <p:sp>
        <p:nvSpPr>
          <p:cNvPr id="472" name="Google Shape;472;p50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Objectives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solidFill>
                  <a:schemeClr val="dk1"/>
                </a:solidFill>
              </a:rPr>
              <a:t>Technical Requirement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ER Diagram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Class Diagram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Advantages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Timeline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800"/>
          </a:p>
        </p:txBody>
      </p:sp>
      <p:sp>
        <p:nvSpPr>
          <p:cNvPr id="473" name="Google Shape;473;p50"/>
          <p:cNvSpPr/>
          <p:nvPr/>
        </p:nvSpPr>
        <p:spPr>
          <a:xfrm>
            <a:off x="172547" y="2753072"/>
            <a:ext cx="1310700" cy="3207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0"/>
          <p:cNvSpPr txBox="1"/>
          <p:nvPr>
            <p:ph idx="12" type="sldNum"/>
          </p:nvPr>
        </p:nvSpPr>
        <p:spPr>
          <a:xfrm>
            <a:off x="6813312" y="3889723"/>
            <a:ext cx="4035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  <p:sp>
        <p:nvSpPr>
          <p:cNvPr id="475" name="Google Shape;475;p50"/>
          <p:cNvSpPr/>
          <p:nvPr/>
        </p:nvSpPr>
        <p:spPr>
          <a:xfrm>
            <a:off x="4704999" y="2465438"/>
            <a:ext cx="158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p50"/>
          <p:cNvGrpSpPr/>
          <p:nvPr/>
        </p:nvGrpSpPr>
        <p:grpSpPr>
          <a:xfrm>
            <a:off x="1773516" y="3888945"/>
            <a:ext cx="6804603" cy="810553"/>
            <a:chOff x="1593000" y="2322568"/>
            <a:chExt cx="5957975" cy="643500"/>
          </a:xfrm>
        </p:grpSpPr>
        <p:sp>
          <p:nvSpPr>
            <p:cNvPr id="477" name="Google Shape;477;p5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78" name="Google Shape;478;p5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79" name="Google Shape;479;p5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80" name="Google Shape;480;p50"/>
            <p:cNvSpPr/>
            <p:nvPr/>
          </p:nvSpPr>
          <p:spPr>
            <a:xfrm>
              <a:off x="2311075" y="2396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Handling Payment Failures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p5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82" name="Google Shape;482;p5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05</a:t>
              </a:r>
              <a:endParaRPr sz="28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483" name="Google Shape;483;p5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 case of failure, the system notifies the user with the failure reason.</a:t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User can retry the payment or select an alternate method.</a:t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System logs the failure.</a:t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4" name="Google Shape;484;p50"/>
          <p:cNvGrpSpPr/>
          <p:nvPr/>
        </p:nvGrpSpPr>
        <p:grpSpPr>
          <a:xfrm>
            <a:off x="1773516" y="3064103"/>
            <a:ext cx="6804603" cy="810553"/>
            <a:chOff x="1593000" y="2322568"/>
            <a:chExt cx="5957975" cy="643500"/>
          </a:xfrm>
        </p:grpSpPr>
        <p:sp>
          <p:nvSpPr>
            <p:cNvPr id="485" name="Google Shape;485;p5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86" name="Google Shape;486;p5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87" name="Google Shape;487;p5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88" name="Google Shape;488;p50"/>
            <p:cNvSpPr/>
            <p:nvPr/>
          </p:nvSpPr>
          <p:spPr>
            <a:xfrm>
              <a:off x="22664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Recording Payment Status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9" name="Google Shape;489;p5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90" name="Google Shape;490;p5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28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491" name="Google Shape;491;p5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3535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353535"/>
                  </a:solidFill>
                  <a:latin typeface="Roboto"/>
                  <a:ea typeface="Roboto"/>
                  <a:cs typeface="Roboto"/>
                  <a:sym typeface="Roboto"/>
                </a:rPr>
                <a:t>System provides real-time updates on the payment status (Initiating, Processing, Success, or Failure).</a:t>
              </a:r>
              <a:endParaRPr sz="1000">
                <a:solidFill>
                  <a:srgbClr val="3535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3535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353535"/>
                  </a:solidFill>
                  <a:latin typeface="Roboto"/>
                  <a:ea typeface="Roboto"/>
                  <a:cs typeface="Roboto"/>
                  <a:sym typeface="Roboto"/>
                </a:rPr>
                <a:t>User can view the payment status in the transaction history.</a:t>
              </a:r>
              <a:endParaRPr sz="1000">
                <a:solidFill>
                  <a:srgbClr val="3535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2" name="Google Shape;492;p50"/>
          <p:cNvGrpSpPr/>
          <p:nvPr/>
        </p:nvGrpSpPr>
        <p:grpSpPr>
          <a:xfrm>
            <a:off x="1773516" y="2239227"/>
            <a:ext cx="6804603" cy="810553"/>
            <a:chOff x="1593000" y="2322568"/>
            <a:chExt cx="5957975" cy="643500"/>
          </a:xfrm>
        </p:grpSpPr>
        <p:sp>
          <p:nvSpPr>
            <p:cNvPr id="493" name="Google Shape;493;p5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94" name="Google Shape;494;p5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95" name="Google Shape;495;p5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96" name="Google Shape;496;p5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Processing the Payment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7" name="Google Shape;497;p5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98" name="Google Shape;498;p5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8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499" name="Google Shape;499;p5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System processes the payment by debiting the user’s account and crediting the recipient.</a:t>
              </a:r>
              <a:endParaRPr sz="10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System communicates with the payment gateway or bank to complete the transaction.</a:t>
              </a:r>
              <a:endParaRPr sz="10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0" name="Google Shape;500;p50"/>
          <p:cNvGrpSpPr/>
          <p:nvPr/>
        </p:nvGrpSpPr>
        <p:grpSpPr>
          <a:xfrm>
            <a:off x="1773516" y="1414394"/>
            <a:ext cx="6804603" cy="810553"/>
            <a:chOff x="1593000" y="2322568"/>
            <a:chExt cx="5957975" cy="643500"/>
          </a:xfrm>
        </p:grpSpPr>
        <p:sp>
          <p:nvSpPr>
            <p:cNvPr id="501" name="Google Shape;501;p5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502" name="Google Shape;502;p5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503" name="Google Shape;503;p5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504" name="Google Shape;504;p50"/>
            <p:cNvSpPr/>
            <p:nvPr/>
          </p:nvSpPr>
          <p:spPr>
            <a:xfrm>
              <a:off x="2311075" y="23963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Authorizing a Payment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5" name="Google Shape;505;p5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506" name="Google Shape;506;p5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8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07" name="Google Shape;507;p5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User authorizes the payment using a preferred method (e.g., Transaction PIN).</a:t>
              </a:r>
              <a:endParaRPr sz="10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System validates the authorization. </a:t>
              </a:r>
              <a:endParaRPr sz="10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If authorization is successful, the system proceeds to the next step.</a:t>
              </a:r>
              <a:endParaRPr sz="10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8" name="Google Shape;508;p50"/>
          <p:cNvGrpSpPr/>
          <p:nvPr/>
        </p:nvGrpSpPr>
        <p:grpSpPr>
          <a:xfrm>
            <a:off x="1773516" y="589541"/>
            <a:ext cx="6804603" cy="810553"/>
            <a:chOff x="1593000" y="2322568"/>
            <a:chExt cx="5957975" cy="643500"/>
          </a:xfrm>
        </p:grpSpPr>
        <p:sp>
          <p:nvSpPr>
            <p:cNvPr id="509" name="Google Shape;509;p5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510" name="Google Shape;510;p5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511" name="Google Shape;511;p5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512" name="Google Shape;512;p50"/>
            <p:cNvSpPr/>
            <p:nvPr/>
          </p:nvSpPr>
          <p:spPr>
            <a:xfrm>
              <a:off x="2311075" y="23963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Initiating a Payment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" name="Google Shape;513;p5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514" name="Google Shape;514;p5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8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15" name="Google Shape;515;p5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User selects the "Payment" option. </a:t>
              </a:r>
              <a:endParaRPr sz="10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User inputs payment details (amount, payment method, recipient).</a:t>
              </a:r>
              <a:endParaRPr sz="10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1000"/>
                <a:buFont typeface="Roboto"/>
                <a:buChar char="●"/>
              </a:pPr>
              <a:r>
                <a:rPr lang="en-GB" sz="10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System initializes the payment process.</a:t>
              </a:r>
              <a:endParaRPr sz="10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6" name="Google Shape;516;p50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1"/>
          <p:cNvSpPr txBox="1"/>
          <p:nvPr>
            <p:ph idx="1" type="body"/>
          </p:nvPr>
        </p:nvSpPr>
        <p:spPr>
          <a:xfrm>
            <a:off x="36510" y="49257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2820">
                <a:solidFill>
                  <a:schemeClr val="dk1"/>
                </a:solidFill>
              </a:rPr>
              <a:t>Technical Requirement</a:t>
            </a:r>
            <a:endParaRPr sz="2820">
              <a:solidFill>
                <a:schemeClr val="dk1"/>
              </a:solidFill>
            </a:endParaRPr>
          </a:p>
          <a:p>
            <a:pPr indent="0" lvl="0" marL="38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0" sz="28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820">
              <a:solidFill>
                <a:schemeClr val="dk1"/>
              </a:solidFill>
            </a:endParaRPr>
          </a:p>
        </p:txBody>
      </p:sp>
      <p:sp>
        <p:nvSpPr>
          <p:cNvPr id="523" name="Google Shape;523;p51"/>
          <p:cNvSpPr txBox="1"/>
          <p:nvPr>
            <p:ph idx="3" type="body"/>
          </p:nvPr>
        </p:nvSpPr>
        <p:spPr>
          <a:xfrm>
            <a:off x="172547" y="7307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524" name="Google Shape;524;p51"/>
          <p:cNvSpPr/>
          <p:nvPr/>
        </p:nvSpPr>
        <p:spPr>
          <a:xfrm>
            <a:off x="172547" y="1376985"/>
            <a:ext cx="1297800" cy="4941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1"/>
          <p:cNvSpPr txBox="1"/>
          <p:nvPr>
            <p:ph idx="12" type="sldNum"/>
          </p:nvPr>
        </p:nvSpPr>
        <p:spPr>
          <a:xfrm>
            <a:off x="8482281" y="4637525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6" name="Google Shape;526;p51"/>
          <p:cNvSpPr txBox="1"/>
          <p:nvPr/>
        </p:nvSpPr>
        <p:spPr>
          <a:xfrm>
            <a:off x="1750669" y="686010"/>
            <a:ext cx="6249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Used: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1"/>
          <p:cNvSpPr txBox="1"/>
          <p:nvPr>
            <p:ph idx="4294967295" type="body"/>
          </p:nvPr>
        </p:nvSpPr>
        <p:spPr>
          <a:xfrm>
            <a:off x="1850794" y="1174819"/>
            <a:ext cx="38193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3556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Java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400">
                <a:solidFill>
                  <a:schemeClr val="dk1"/>
                </a:solidFill>
              </a:rPr>
              <a:t>Spring</a:t>
            </a:r>
            <a:endParaRPr sz="14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556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React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556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Oracle SQL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28" name="Google Shape;528;p51"/>
          <p:cNvSpPr txBox="1"/>
          <p:nvPr/>
        </p:nvSpPr>
        <p:spPr>
          <a:xfrm>
            <a:off x="1639061" y="1587305"/>
            <a:ext cx="62499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Requirements: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51"/>
          <p:cNvSpPr txBox="1"/>
          <p:nvPr/>
        </p:nvSpPr>
        <p:spPr>
          <a:xfrm>
            <a:off x="1750670" y="2609850"/>
            <a:ext cx="3919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30" name="Google Shape;530;p51"/>
          <p:cNvSpPr/>
          <p:nvPr/>
        </p:nvSpPr>
        <p:spPr>
          <a:xfrm>
            <a:off x="6573297" y="944168"/>
            <a:ext cx="1767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p51"/>
          <p:cNvPicPr preferRelativeResize="0"/>
          <p:nvPr/>
        </p:nvPicPr>
        <p:blipFill rotWithShape="1">
          <a:blip r:embed="rId4">
            <a:alphaModFix/>
          </a:blip>
          <a:srcRect b="0" l="3891" r="3882" t="0"/>
          <a:stretch/>
        </p:blipFill>
        <p:spPr>
          <a:xfrm>
            <a:off x="5104825" y="2495550"/>
            <a:ext cx="494100" cy="54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1"/>
          <p:cNvSpPr txBox="1"/>
          <p:nvPr/>
        </p:nvSpPr>
        <p:spPr>
          <a:xfrm>
            <a:off x="1750673" y="2609850"/>
            <a:ext cx="1653600" cy="16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AutoNum type="arabicPeriod"/>
            </a:pPr>
            <a:r>
              <a:rPr lang="en-GB" sz="1400">
                <a:solidFill>
                  <a:srgbClr val="181818"/>
                </a:solidFill>
              </a:rPr>
              <a:t>VS Code</a:t>
            </a:r>
            <a:br>
              <a:rPr lang="en-GB" sz="1400">
                <a:solidFill>
                  <a:srgbClr val="181818"/>
                </a:solidFill>
              </a:rPr>
            </a:br>
            <a:endParaRPr sz="1400">
              <a:solidFill>
                <a:srgbClr val="181818"/>
              </a:solidFill>
            </a:endParaRPr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AutoNum type="arabicPeriod"/>
            </a:pPr>
            <a:r>
              <a:rPr lang="en-GB">
                <a:solidFill>
                  <a:srgbClr val="181818"/>
                </a:solidFill>
              </a:rPr>
              <a:t>Eclipse</a:t>
            </a:r>
            <a:endParaRPr>
              <a:solidFill>
                <a:srgbClr val="181818"/>
              </a:solidFill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1818"/>
              </a:solidFill>
            </a:endParaRPr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AutoNum type="arabicPeriod"/>
            </a:pPr>
            <a:r>
              <a:rPr lang="en-GB" sz="1400">
                <a:solidFill>
                  <a:srgbClr val="181818"/>
                </a:solidFill>
              </a:rPr>
              <a:t>MS Excel</a:t>
            </a:r>
            <a:endParaRPr sz="1400">
              <a:solidFill>
                <a:srgbClr val="181818"/>
              </a:solidFill>
            </a:endParaRPr>
          </a:p>
        </p:txBody>
      </p:sp>
      <p:pic>
        <p:nvPicPr>
          <p:cNvPr id="533" name="Google Shape;53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9550" y="630451"/>
            <a:ext cx="1767600" cy="454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7500" y="424487"/>
            <a:ext cx="670625" cy="8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54263" y="2635475"/>
            <a:ext cx="1462874" cy="3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6874" y="3506400"/>
            <a:ext cx="494100" cy="4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98675" y="1588420"/>
            <a:ext cx="670625" cy="610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18578" y="1555800"/>
            <a:ext cx="601200" cy="6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/>
          <p:nvPr/>
        </p:nvSpPr>
        <p:spPr>
          <a:xfrm>
            <a:off x="3954125" y="833325"/>
            <a:ext cx="1601100" cy="3627900"/>
          </a:xfrm>
          <a:prstGeom prst="roundRect">
            <a:avLst>
              <a:gd fmla="val 10000" name="adj"/>
            </a:avLst>
          </a:prstGeom>
          <a:solidFill>
            <a:srgbClr val="FFCFB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2"/>
          <p:cNvSpPr txBox="1"/>
          <p:nvPr>
            <p:ph idx="1" type="body"/>
          </p:nvPr>
        </p:nvSpPr>
        <p:spPr>
          <a:xfrm>
            <a:off x="36510" y="49257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2820">
                <a:solidFill>
                  <a:schemeClr val="dk1"/>
                </a:solidFill>
              </a:rPr>
              <a:t>Concepts Used</a:t>
            </a:r>
            <a:endParaRPr b="0" sz="28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820"/>
          </a:p>
        </p:txBody>
      </p:sp>
      <p:sp>
        <p:nvSpPr>
          <p:cNvPr id="546" name="Google Shape;546;p52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547" name="Google Shape;547;p52"/>
          <p:cNvSpPr/>
          <p:nvPr/>
        </p:nvSpPr>
        <p:spPr>
          <a:xfrm>
            <a:off x="172547" y="1453185"/>
            <a:ext cx="1297800" cy="4941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2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9" name="Google Shape;549;p52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0" name="Google Shape;550;p52"/>
          <p:cNvGrpSpPr/>
          <p:nvPr/>
        </p:nvGrpSpPr>
        <p:grpSpPr>
          <a:xfrm>
            <a:off x="2202593" y="802850"/>
            <a:ext cx="6686278" cy="3658474"/>
            <a:chOff x="1431" y="0"/>
            <a:chExt cx="7052292" cy="4639201"/>
          </a:xfrm>
        </p:grpSpPr>
        <p:sp>
          <p:nvSpPr>
            <p:cNvPr id="551" name="Google Shape;551;p52"/>
            <p:cNvSpPr/>
            <p:nvPr/>
          </p:nvSpPr>
          <p:spPr>
            <a:xfrm>
              <a:off x="1431" y="0"/>
              <a:ext cx="1747200" cy="4639200"/>
            </a:xfrm>
            <a:prstGeom prst="roundRect">
              <a:avLst>
                <a:gd fmla="val 10000" name="adj"/>
              </a:avLst>
            </a:prstGeom>
            <a:solidFill>
              <a:srgbClr val="E78F8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2"/>
            <p:cNvSpPr txBox="1"/>
            <p:nvPr/>
          </p:nvSpPr>
          <p:spPr>
            <a:xfrm>
              <a:off x="78778" y="1921507"/>
              <a:ext cx="1669800" cy="24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&gt; </a:t>
              </a: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Object Oriented           Programming</a:t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&gt; Exception Handling</a:t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&gt; </a:t>
              </a: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Collections Framework</a:t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sz="15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52"/>
            <p:cNvSpPr/>
            <p:nvPr/>
          </p:nvSpPr>
          <p:spPr>
            <a:xfrm>
              <a:off x="124685" y="383655"/>
              <a:ext cx="1486500" cy="1544700"/>
            </a:xfrm>
            <a:prstGeom prst="ellipse">
              <a:avLst/>
            </a:prstGeom>
            <a:solidFill>
              <a:srgbClr val="FFCFB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2"/>
            <p:cNvSpPr/>
            <p:nvPr/>
          </p:nvSpPr>
          <p:spPr>
            <a:xfrm>
              <a:off x="3615482" y="1"/>
              <a:ext cx="1688700" cy="4639200"/>
            </a:xfrm>
            <a:prstGeom prst="roundRect">
              <a:avLst>
                <a:gd fmla="val 10000" name="adj"/>
              </a:avLst>
            </a:prstGeom>
            <a:solidFill>
              <a:srgbClr val="E78F8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2"/>
            <p:cNvSpPr txBox="1"/>
            <p:nvPr/>
          </p:nvSpPr>
          <p:spPr>
            <a:xfrm>
              <a:off x="3568309" y="1921507"/>
              <a:ext cx="1747200" cy="22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675" lIns="90675" spcFirstLastPara="1" rIns="90675" wrap="square" tIns="9067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 &gt;Component-based Architecture</a:t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&gt; State Management with Hooks</a:t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&gt; Fetch for API Calls</a:t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52"/>
            <p:cNvSpPr/>
            <p:nvPr/>
          </p:nvSpPr>
          <p:spPr>
            <a:xfrm>
              <a:off x="3697504" y="379948"/>
              <a:ext cx="1544700" cy="1544700"/>
            </a:xfrm>
            <a:prstGeom prst="ellipse">
              <a:avLst/>
            </a:prstGeom>
            <a:solidFill>
              <a:srgbClr val="FFCFB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2"/>
            <p:cNvSpPr/>
            <p:nvPr/>
          </p:nvSpPr>
          <p:spPr>
            <a:xfrm>
              <a:off x="5383923" y="0"/>
              <a:ext cx="1669800" cy="4639200"/>
            </a:xfrm>
            <a:prstGeom prst="roundRect">
              <a:avLst>
                <a:gd fmla="val 10000" name="adj"/>
              </a:avLst>
            </a:prstGeom>
            <a:solidFill>
              <a:srgbClr val="FFCFB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2"/>
            <p:cNvSpPr txBox="1"/>
            <p:nvPr/>
          </p:nvSpPr>
          <p:spPr>
            <a:xfrm>
              <a:off x="5227786" y="2145543"/>
              <a:ext cx="1747200" cy="185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025" lIns="112025" spcFirstLastPara="1" rIns="112025" wrap="square" tIns="112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&gt; </a:t>
              </a: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Tables</a:t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&gt; </a:t>
              </a:r>
              <a:r>
                <a:rPr b="1" i="0" lang="en-GB" u="none" cap="none" strike="noStrike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Stored Procedure</a:t>
              </a:r>
              <a:endParaRPr b="1" i="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n-GB">
                  <a:solidFill>
                    <a:srgbClr val="181818"/>
                  </a:solidFill>
                  <a:latin typeface="Calibri"/>
                  <a:ea typeface="Calibri"/>
                  <a:cs typeface="Calibri"/>
                  <a:sym typeface="Calibri"/>
                </a:rPr>
                <a:t>&gt; Transaction Handling</a:t>
              </a:r>
              <a:endParaRPr b="1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2"/>
            <p:cNvSpPr/>
            <p:nvPr/>
          </p:nvSpPr>
          <p:spPr>
            <a:xfrm>
              <a:off x="5496903" y="379946"/>
              <a:ext cx="1486500" cy="1544700"/>
            </a:xfrm>
            <a:prstGeom prst="ellipse">
              <a:avLst/>
            </a:prstGeom>
            <a:solidFill>
              <a:srgbClr val="E78F8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2"/>
            <p:cNvSpPr/>
            <p:nvPr/>
          </p:nvSpPr>
          <p:spPr>
            <a:xfrm>
              <a:off x="192109" y="3871957"/>
              <a:ext cx="6660900" cy="696000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E0666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1" name="Google Shape;561;p52"/>
          <p:cNvSpPr txBox="1"/>
          <p:nvPr/>
        </p:nvSpPr>
        <p:spPr>
          <a:xfrm>
            <a:off x="2518145" y="1523132"/>
            <a:ext cx="102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Java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2"/>
          <p:cNvSpPr txBox="1"/>
          <p:nvPr/>
        </p:nvSpPr>
        <p:spPr>
          <a:xfrm>
            <a:off x="6134952" y="1578783"/>
            <a:ext cx="102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React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2"/>
          <p:cNvSpPr txBox="1"/>
          <p:nvPr/>
        </p:nvSpPr>
        <p:spPr>
          <a:xfrm>
            <a:off x="7645378" y="1523132"/>
            <a:ext cx="102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4008998" y="1141836"/>
            <a:ext cx="1435200" cy="1158600"/>
          </a:xfrm>
          <a:prstGeom prst="ellipse">
            <a:avLst/>
          </a:prstGeom>
          <a:solidFill>
            <a:srgbClr val="E78F8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2"/>
          <p:cNvSpPr txBox="1"/>
          <p:nvPr/>
        </p:nvSpPr>
        <p:spPr>
          <a:xfrm>
            <a:off x="4183626" y="1425625"/>
            <a:ext cx="1173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Spring Framework</a:t>
            </a:r>
            <a:endParaRPr b="1" i="0" u="none" cap="none" strike="noStrike">
              <a:solidFill>
                <a:schemeClr val="dk1"/>
              </a:solidFill>
            </a:endParaRPr>
          </a:p>
        </p:txBody>
      </p:sp>
      <p:sp>
        <p:nvSpPr>
          <p:cNvPr id="566" name="Google Shape;566;p52"/>
          <p:cNvSpPr txBox="1"/>
          <p:nvPr/>
        </p:nvSpPr>
        <p:spPr>
          <a:xfrm>
            <a:off x="3992825" y="2318150"/>
            <a:ext cx="15267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6675" lIns="106675" spcFirstLastPara="1" rIns="106675" wrap="square" tIns="1066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&gt; Spring Boot for RESTful APIs</a:t>
            </a:r>
            <a:endParaRPr b="1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&gt; Dependency Injection</a:t>
            </a:r>
            <a:endParaRPr b="1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&gt; Transaction Management</a:t>
            </a:r>
            <a:endParaRPr b="1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2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3"/>
          <p:cNvSpPr txBox="1"/>
          <p:nvPr>
            <p:ph idx="1" type="body"/>
          </p:nvPr>
        </p:nvSpPr>
        <p:spPr>
          <a:xfrm>
            <a:off x="36510" y="49257"/>
            <a:ext cx="9031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600">
                <a:solidFill>
                  <a:schemeClr val="dk1"/>
                </a:solidFill>
              </a:rPr>
              <a:t>Three Tier Architecture 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574" name="Google Shape;574;p53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575" name="Google Shape;575;p53"/>
          <p:cNvSpPr/>
          <p:nvPr/>
        </p:nvSpPr>
        <p:spPr>
          <a:xfrm>
            <a:off x="172547" y="1453185"/>
            <a:ext cx="1297800" cy="4941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3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7" name="Google Shape;577;p53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8" name="Google Shape;578;p53"/>
          <p:cNvGraphicFramePr/>
          <p:nvPr/>
        </p:nvGraphicFramePr>
        <p:xfrm>
          <a:off x="1662319" y="72307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{42E33D48-5917-4589-B26D-C9F068CA7E0E}</a:tableStyleId>
              </a:tblPr>
              <a:tblGrid>
                <a:gridCol w="2257250"/>
                <a:gridCol w="2257900"/>
                <a:gridCol w="2257900"/>
              </a:tblGrid>
              <a:tr h="33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/>
                        <a:t>Layer Type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/>
                        <a:t>Logical Layer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/>
                        <a:t>Tech stack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/>
                </a:tc>
              </a:tr>
              <a:tr h="133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81818"/>
                          </a:solidFill>
                        </a:rPr>
                        <a:t>Presentation</a:t>
                      </a:r>
                      <a:endParaRPr sz="700" u="none" cap="none" strike="noStrike">
                        <a:solidFill>
                          <a:srgbClr val="18181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>
                    <a:solidFill>
                      <a:srgbClr val="FFC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 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>
                    <a:solidFill>
                      <a:srgbClr val="E78F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React for Frontend, 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HTML, CSS, JavaScript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38175" marL="38175">
                    <a:solidFill>
                      <a:srgbClr val="FFCFB3"/>
                    </a:solidFill>
                  </a:tcPr>
                </a:tc>
              </a:tr>
              <a:tr h="118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81818"/>
                          </a:solidFill>
                        </a:rPr>
                        <a:t>Business</a:t>
                      </a:r>
                      <a:endParaRPr sz="700" u="none" cap="none" strike="noStrike">
                        <a:solidFill>
                          <a:srgbClr val="18181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>
                    <a:solidFill>
                      <a:srgbClr val="E78F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/>
                        <a:t> 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 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>
                    <a:solidFill>
                      <a:srgbClr val="FFC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Java, 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Spring Boot for Business Logic, 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REST API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38175" marL="38175">
                    <a:solidFill>
                      <a:srgbClr val="E78F81"/>
                    </a:solidFill>
                  </a:tcPr>
                </a:tc>
              </a:tr>
              <a:tr h="7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81818"/>
                          </a:solidFill>
                        </a:rPr>
                        <a:t>Data Access</a:t>
                      </a:r>
                      <a:endParaRPr sz="700" u="none" cap="none" strike="noStrike">
                        <a:solidFill>
                          <a:srgbClr val="18181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>
                    <a:solidFill>
                      <a:srgbClr val="FFC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/>
                        <a:t> 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175" marL="38175">
                    <a:solidFill>
                      <a:srgbClr val="E78F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Java,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Spring Data JPA, Hibernate</a:t>
                      </a:r>
                      <a:endParaRPr sz="900"/>
                    </a:p>
                  </a:txBody>
                  <a:tcPr marT="0" marB="0" marR="38175" marL="38175">
                    <a:solidFill>
                      <a:srgbClr val="FFCFB3"/>
                    </a:solidFill>
                  </a:tcPr>
                </a:tc>
              </a:tr>
            </a:tbl>
          </a:graphicData>
        </a:graphic>
      </p:graphicFrame>
      <p:pic>
        <p:nvPicPr>
          <p:cNvPr descr="Database Icon Transparent #408826 - Free Icons Library" id="579" name="Google Shape;57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826" y="4255700"/>
            <a:ext cx="1012651" cy="785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0" name="Google Shape;580;p53"/>
          <p:cNvGrpSpPr/>
          <p:nvPr/>
        </p:nvGrpSpPr>
        <p:grpSpPr>
          <a:xfrm>
            <a:off x="4250801" y="1197086"/>
            <a:ext cx="1094625" cy="1146825"/>
            <a:chOff x="5667734" y="1596114"/>
            <a:chExt cx="1459500" cy="1529100"/>
          </a:xfrm>
        </p:grpSpPr>
        <p:sp>
          <p:nvSpPr>
            <p:cNvPr id="581" name="Google Shape;581;p53"/>
            <p:cNvSpPr/>
            <p:nvPr/>
          </p:nvSpPr>
          <p:spPr>
            <a:xfrm>
              <a:off x="5667734" y="1596114"/>
              <a:ext cx="1459500" cy="1529100"/>
            </a:xfrm>
            <a:prstGeom prst="roundRect">
              <a:avLst>
                <a:gd fmla="val 16667" name="adj"/>
              </a:avLst>
            </a:prstGeom>
            <a:solidFill>
              <a:srgbClr val="E6E6E6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3"/>
            <p:cNvSpPr/>
            <p:nvPr/>
          </p:nvSpPr>
          <p:spPr>
            <a:xfrm>
              <a:off x="5900618" y="1671156"/>
              <a:ext cx="1026600" cy="2742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3"/>
            <p:cNvSpPr/>
            <p:nvPr/>
          </p:nvSpPr>
          <p:spPr>
            <a:xfrm>
              <a:off x="5907283" y="1998852"/>
              <a:ext cx="1026600" cy="2871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Mgmt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3"/>
            <p:cNvSpPr/>
            <p:nvPr/>
          </p:nvSpPr>
          <p:spPr>
            <a:xfrm>
              <a:off x="5906372" y="2333491"/>
              <a:ext cx="1015800" cy="2787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Reports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3"/>
            <p:cNvSpPr/>
            <p:nvPr/>
          </p:nvSpPr>
          <p:spPr>
            <a:xfrm>
              <a:off x="5933749" y="2674336"/>
              <a:ext cx="1000200" cy="3402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Game Navigation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" name="Google Shape;586;p53"/>
          <p:cNvGrpSpPr/>
          <p:nvPr/>
        </p:nvGrpSpPr>
        <p:grpSpPr>
          <a:xfrm>
            <a:off x="4112215" y="3676890"/>
            <a:ext cx="1424250" cy="465525"/>
            <a:chOff x="5535253" y="4925737"/>
            <a:chExt cx="1899000" cy="620700"/>
          </a:xfrm>
        </p:grpSpPr>
        <p:sp>
          <p:nvSpPr>
            <p:cNvPr id="587" name="Google Shape;587;p53"/>
            <p:cNvSpPr/>
            <p:nvPr/>
          </p:nvSpPr>
          <p:spPr>
            <a:xfrm>
              <a:off x="5535253" y="4925737"/>
              <a:ext cx="1899000" cy="620700"/>
            </a:xfrm>
            <a:prstGeom prst="roundRect">
              <a:avLst>
                <a:gd fmla="val 16667" name="adj"/>
              </a:avLst>
            </a:prstGeom>
            <a:solidFill>
              <a:srgbClr val="E6E6E6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3"/>
            <p:cNvSpPr/>
            <p:nvPr/>
          </p:nvSpPr>
          <p:spPr>
            <a:xfrm>
              <a:off x="5869123" y="5031393"/>
              <a:ext cx="1277100" cy="3417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53"/>
          <p:cNvGrpSpPr/>
          <p:nvPr/>
        </p:nvGrpSpPr>
        <p:grpSpPr>
          <a:xfrm>
            <a:off x="4215480" y="2474598"/>
            <a:ext cx="1165275" cy="1089000"/>
            <a:chOff x="5675740" y="3333597"/>
            <a:chExt cx="1553700" cy="1452000"/>
          </a:xfrm>
        </p:grpSpPr>
        <p:sp>
          <p:nvSpPr>
            <p:cNvPr id="590" name="Google Shape;590;p53"/>
            <p:cNvSpPr/>
            <p:nvPr/>
          </p:nvSpPr>
          <p:spPr>
            <a:xfrm>
              <a:off x="5675740" y="3333597"/>
              <a:ext cx="1553700" cy="1452000"/>
            </a:xfrm>
            <a:prstGeom prst="roundRect">
              <a:avLst>
                <a:gd fmla="val 16667" name="adj"/>
              </a:avLst>
            </a:prstGeom>
            <a:solidFill>
              <a:srgbClr val="E6E6E6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3"/>
            <p:cNvSpPr/>
            <p:nvPr/>
          </p:nvSpPr>
          <p:spPr>
            <a:xfrm>
              <a:off x="5880361" y="3456810"/>
              <a:ext cx="1116900" cy="2604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Validation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3"/>
            <p:cNvSpPr/>
            <p:nvPr/>
          </p:nvSpPr>
          <p:spPr>
            <a:xfrm>
              <a:off x="5875990" y="3760389"/>
              <a:ext cx="1141200" cy="2592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Service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3"/>
            <p:cNvSpPr/>
            <p:nvPr/>
          </p:nvSpPr>
          <p:spPr>
            <a:xfrm>
              <a:off x="5858633" y="4044713"/>
              <a:ext cx="1153800" cy="2604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Configuration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3"/>
            <p:cNvSpPr/>
            <p:nvPr/>
          </p:nvSpPr>
          <p:spPr>
            <a:xfrm>
              <a:off x="5875555" y="4344137"/>
              <a:ext cx="1136100" cy="317700"/>
            </a:xfrm>
            <a:prstGeom prst="roundRect">
              <a:avLst>
                <a:gd fmla="val 16667" name="adj"/>
              </a:avLst>
            </a:prstGeom>
            <a:solidFill>
              <a:srgbClr val="F4F4F4"/>
            </a:solidFill>
            <a:ln cap="flat" cmpd="sng" w="2540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Game Logic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5" name="Google Shape;595;p53"/>
          <p:cNvSpPr/>
          <p:nvPr/>
        </p:nvSpPr>
        <p:spPr>
          <a:xfrm rot="5400000">
            <a:off x="5454309" y="4440138"/>
            <a:ext cx="188400" cy="532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25400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3"/>
          <p:cNvSpPr txBox="1"/>
          <p:nvPr/>
        </p:nvSpPr>
        <p:spPr>
          <a:xfrm>
            <a:off x="5878027" y="4607911"/>
            <a:ext cx="1171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Oracle 1</a:t>
            </a:r>
            <a:r>
              <a:rPr lang="en-GB" sz="1100">
                <a:solidFill>
                  <a:schemeClr val="dk1"/>
                </a:solidFill>
              </a:rPr>
              <a:t>9C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3"/>
          <p:cNvSpPr/>
          <p:nvPr/>
        </p:nvSpPr>
        <p:spPr>
          <a:xfrm>
            <a:off x="4751599" y="4106191"/>
            <a:ext cx="145500" cy="256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3B3B3"/>
          </a:solidFill>
          <a:ln cap="flat" cmpd="sng" w="25400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3"/>
          <p:cNvSpPr/>
          <p:nvPr/>
        </p:nvSpPr>
        <p:spPr>
          <a:xfrm>
            <a:off x="4710649" y="2251124"/>
            <a:ext cx="144000" cy="256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3B3B3"/>
          </a:solidFill>
          <a:ln cap="flat" cmpd="sng" w="25400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3"/>
          <p:cNvSpPr/>
          <p:nvPr/>
        </p:nvSpPr>
        <p:spPr>
          <a:xfrm>
            <a:off x="4751600" y="3485083"/>
            <a:ext cx="145500" cy="256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3B3B3"/>
          </a:solidFill>
          <a:ln cap="flat" cmpd="sng" w="25400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3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4"/>
          <p:cNvSpPr txBox="1"/>
          <p:nvPr>
            <p:ph idx="1" type="body"/>
          </p:nvPr>
        </p:nvSpPr>
        <p:spPr>
          <a:xfrm>
            <a:off x="112700" y="49251"/>
            <a:ext cx="9031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E-R Diagram</a:t>
            </a:r>
            <a:endParaRPr/>
          </a:p>
        </p:txBody>
      </p:sp>
      <p:sp>
        <p:nvSpPr>
          <p:cNvPr id="607" name="Google Shape;607;p54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608" name="Google Shape;608;p54"/>
          <p:cNvSpPr/>
          <p:nvPr/>
        </p:nvSpPr>
        <p:spPr>
          <a:xfrm>
            <a:off x="172547" y="1960694"/>
            <a:ext cx="1243800" cy="3183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4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0" name="Google Shape;610;p54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4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12" name="Google Shape;6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550" y="730750"/>
            <a:ext cx="6736576" cy="354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5"/>
          <p:cNvSpPr txBox="1"/>
          <p:nvPr>
            <p:ph idx="1" type="body"/>
          </p:nvPr>
        </p:nvSpPr>
        <p:spPr>
          <a:xfrm>
            <a:off x="112725" y="42275"/>
            <a:ext cx="90312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Class Diagram</a:t>
            </a:r>
            <a:endParaRPr/>
          </a:p>
        </p:txBody>
      </p:sp>
      <p:sp>
        <p:nvSpPr>
          <p:cNvPr id="619" name="Google Shape;619;p55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620" name="Google Shape;620;p55"/>
          <p:cNvSpPr/>
          <p:nvPr/>
        </p:nvSpPr>
        <p:spPr>
          <a:xfrm>
            <a:off x="172547" y="2278083"/>
            <a:ext cx="1243800" cy="3183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5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22" name="Google Shape;622;p55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oogle Shape;62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5800" y="426125"/>
            <a:ext cx="6742675" cy="4415801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55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 txBox="1"/>
          <p:nvPr>
            <p:ph idx="1" type="body"/>
          </p:nvPr>
        </p:nvSpPr>
        <p:spPr>
          <a:xfrm>
            <a:off x="112700" y="49251"/>
            <a:ext cx="90312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Use Case Diagram</a:t>
            </a:r>
            <a:endParaRPr/>
          </a:p>
        </p:txBody>
      </p:sp>
      <p:sp>
        <p:nvSpPr>
          <p:cNvPr id="631" name="Google Shape;631;p56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632" name="Google Shape;632;p56"/>
          <p:cNvSpPr/>
          <p:nvPr/>
        </p:nvSpPr>
        <p:spPr>
          <a:xfrm>
            <a:off x="231478" y="2608732"/>
            <a:ext cx="1328100" cy="3102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6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4" name="Google Shape;634;p56"/>
          <p:cNvSpPr/>
          <p:nvPr/>
        </p:nvSpPr>
        <p:spPr>
          <a:xfrm>
            <a:off x="5304026" y="242961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5" name="Google Shape;635;p56"/>
          <p:cNvGrpSpPr/>
          <p:nvPr/>
        </p:nvGrpSpPr>
        <p:grpSpPr>
          <a:xfrm>
            <a:off x="2253817" y="707688"/>
            <a:ext cx="5648959" cy="3488910"/>
            <a:chOff x="201152" y="317608"/>
            <a:chExt cx="9233343" cy="5788800"/>
          </a:xfrm>
        </p:grpSpPr>
        <p:sp>
          <p:nvSpPr>
            <p:cNvPr id="636" name="Google Shape;636;p56"/>
            <p:cNvSpPr/>
            <p:nvPr/>
          </p:nvSpPr>
          <p:spPr>
            <a:xfrm>
              <a:off x="2522795" y="317608"/>
              <a:ext cx="6911700" cy="57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7" name="Google Shape;637;p56"/>
            <p:cNvGrpSpPr/>
            <p:nvPr/>
          </p:nvGrpSpPr>
          <p:grpSpPr>
            <a:xfrm>
              <a:off x="201152" y="1328381"/>
              <a:ext cx="7981557" cy="4452953"/>
              <a:chOff x="201152" y="1328381"/>
              <a:chExt cx="7981557" cy="4452953"/>
            </a:xfrm>
          </p:grpSpPr>
          <p:grpSp>
            <p:nvGrpSpPr>
              <p:cNvPr id="638" name="Google Shape;638;p56"/>
              <p:cNvGrpSpPr/>
              <p:nvPr/>
            </p:nvGrpSpPr>
            <p:grpSpPr>
              <a:xfrm>
                <a:off x="489187" y="2863284"/>
                <a:ext cx="563558" cy="1126850"/>
                <a:chOff x="1570181" y="886692"/>
                <a:chExt cx="637437" cy="1551708"/>
              </a:xfrm>
            </p:grpSpPr>
            <p:sp>
              <p:nvSpPr>
                <p:cNvPr id="639" name="Google Shape;639;p56"/>
                <p:cNvSpPr/>
                <p:nvPr/>
              </p:nvSpPr>
              <p:spPr>
                <a:xfrm>
                  <a:off x="1579418" y="886692"/>
                  <a:ext cx="628200" cy="582000"/>
                </a:xfrm>
                <a:prstGeom prst="smileyFace">
                  <a:avLst>
                    <a:gd fmla="val 4653" name="adj"/>
                  </a:avLst>
                </a:prstGeom>
                <a:solidFill>
                  <a:srgbClr val="FFF5CD"/>
                </a:solidFill>
                <a:ln cap="flat" cmpd="sng" w="254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500"/>
                    <a:buFont typeface="Arial"/>
                    <a:buNone/>
                  </a:pPr>
                  <a:r>
                    <a:t/>
                  </a:r>
                  <a:endParaRPr b="0" i="0" sz="15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40" name="Google Shape;640;p56"/>
                <p:cNvCxnSpPr>
                  <a:stCxn id="639" idx="4"/>
                </p:cNvCxnSpPr>
                <p:nvPr/>
              </p:nvCxnSpPr>
              <p:spPr>
                <a:xfrm>
                  <a:off x="1893518" y="1468692"/>
                  <a:ext cx="0" cy="6744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1" name="Google Shape;641;p56"/>
                <p:cNvCxnSpPr/>
                <p:nvPr/>
              </p:nvCxnSpPr>
              <p:spPr>
                <a:xfrm flipH="1" rot="10800000">
                  <a:off x="1570181" y="2142900"/>
                  <a:ext cx="306000" cy="295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2" name="Google Shape;642;p56"/>
                <p:cNvCxnSpPr/>
                <p:nvPr/>
              </p:nvCxnSpPr>
              <p:spPr>
                <a:xfrm rot="10800000">
                  <a:off x="1884219" y="2133600"/>
                  <a:ext cx="304800" cy="3048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3" name="Google Shape;643;p56"/>
                <p:cNvCxnSpPr/>
                <p:nvPr/>
              </p:nvCxnSpPr>
              <p:spPr>
                <a:xfrm>
                  <a:off x="1618671" y="1687949"/>
                  <a:ext cx="5148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44" name="Google Shape;644;p56"/>
              <p:cNvSpPr/>
              <p:nvPr/>
            </p:nvSpPr>
            <p:spPr>
              <a:xfrm>
                <a:off x="5563109" y="2955684"/>
                <a:ext cx="2619600" cy="909300"/>
              </a:xfrm>
              <a:prstGeom prst="ellipse">
                <a:avLst/>
              </a:prstGeom>
              <a:solidFill>
                <a:srgbClr val="FFCFB3"/>
              </a:solidFill>
              <a:ln cap="flat" cmpd="sng" w="28575">
                <a:solidFill>
                  <a:srgbClr val="71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-GB" sz="1100">
                    <a:solidFill>
                      <a:srgbClr val="181818"/>
                    </a:solidFill>
                    <a:latin typeface="Roboto"/>
                    <a:ea typeface="Roboto"/>
                    <a:cs typeface="Roboto"/>
                    <a:sym typeface="Roboto"/>
                  </a:rPr>
                  <a:t>UPI Payment</a:t>
                </a:r>
                <a:endParaRPr b="1" i="0" sz="1000" u="none" cap="none" strike="noStrike">
                  <a:solidFill>
                    <a:srgbClr val="181818"/>
                  </a:solidFill>
                </a:endParaRPr>
              </a:p>
            </p:txBody>
          </p:sp>
          <p:cxnSp>
            <p:nvCxnSpPr>
              <p:cNvPr id="645" name="Google Shape;645;p56"/>
              <p:cNvCxnSpPr/>
              <p:nvPr/>
            </p:nvCxnSpPr>
            <p:spPr>
              <a:xfrm flipH="1" rot="10800000">
                <a:off x="2086259" y="1328381"/>
                <a:ext cx="3517200" cy="33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646" name="Google Shape;646;p56"/>
              <p:cNvSpPr/>
              <p:nvPr/>
            </p:nvSpPr>
            <p:spPr>
              <a:xfrm>
                <a:off x="201152" y="4065532"/>
                <a:ext cx="1185600" cy="37050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400">
                    <a:solidFill>
                      <a:schemeClr val="dk1"/>
                    </a:solidFill>
                  </a:rPr>
                  <a:t>User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47" name="Google Shape;647;p56"/>
              <p:cNvCxnSpPr/>
              <p:nvPr/>
            </p:nvCxnSpPr>
            <p:spPr>
              <a:xfrm>
                <a:off x="2013808" y="5781334"/>
                <a:ext cx="3662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lgDash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648" name="Google Shape;648;p56"/>
          <p:cNvCxnSpPr/>
          <p:nvPr/>
        </p:nvCxnSpPr>
        <p:spPr>
          <a:xfrm>
            <a:off x="2730800" y="2592050"/>
            <a:ext cx="659100" cy="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56"/>
          <p:cNvCxnSpPr/>
          <p:nvPr/>
        </p:nvCxnSpPr>
        <p:spPr>
          <a:xfrm flipH="1" rot="10800000">
            <a:off x="3368725" y="1316875"/>
            <a:ext cx="38400" cy="270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56"/>
          <p:cNvCxnSpPr/>
          <p:nvPr/>
        </p:nvCxnSpPr>
        <p:spPr>
          <a:xfrm flipH="1" rot="10800000">
            <a:off x="3382350" y="2579750"/>
            <a:ext cx="2151900" cy="2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51" name="Google Shape;651;p56"/>
          <p:cNvSpPr/>
          <p:nvPr/>
        </p:nvSpPr>
        <p:spPr>
          <a:xfrm>
            <a:off x="5565937" y="1035231"/>
            <a:ext cx="1602600" cy="548100"/>
          </a:xfrm>
          <a:prstGeom prst="ellipse">
            <a:avLst/>
          </a:prstGeom>
          <a:solidFill>
            <a:srgbClr val="FFF5CD"/>
          </a:solidFill>
          <a:ln cap="flat" cmpd="sng" w="28575">
            <a:solidFill>
              <a:srgbClr val="71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11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rPr>
              <a:t>Bank Linking</a:t>
            </a:r>
            <a:endParaRPr b="1" i="0" sz="1000" u="none" cap="none" strike="noStrike">
              <a:solidFill>
                <a:srgbClr val="181818"/>
              </a:solidFill>
            </a:endParaRPr>
          </a:p>
        </p:txBody>
      </p:sp>
      <p:sp>
        <p:nvSpPr>
          <p:cNvPr id="652" name="Google Shape;652;p56"/>
          <p:cNvSpPr/>
          <p:nvPr/>
        </p:nvSpPr>
        <p:spPr>
          <a:xfrm>
            <a:off x="6350000" y="3530975"/>
            <a:ext cx="404100" cy="2841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56"/>
          <p:cNvSpPr/>
          <p:nvPr/>
        </p:nvSpPr>
        <p:spPr>
          <a:xfrm>
            <a:off x="5598162" y="3735381"/>
            <a:ext cx="1602600" cy="548100"/>
          </a:xfrm>
          <a:prstGeom prst="ellipse">
            <a:avLst/>
          </a:prstGeom>
          <a:solidFill>
            <a:srgbClr val="FFCFB3"/>
          </a:solidFill>
          <a:ln cap="flat" cmpd="sng" w="28575">
            <a:solidFill>
              <a:srgbClr val="71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11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rPr>
              <a:t>Bank Transfer</a:t>
            </a:r>
            <a:endParaRPr b="1" i="0" sz="1000" u="none" cap="none" strike="noStrike">
              <a:solidFill>
                <a:srgbClr val="181818"/>
              </a:solidFill>
            </a:endParaRPr>
          </a:p>
        </p:txBody>
      </p:sp>
      <p:sp>
        <p:nvSpPr>
          <p:cNvPr id="654" name="Google Shape;654;p56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5" name="Google Shape;655;p56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7"/>
          <p:cNvSpPr txBox="1"/>
          <p:nvPr>
            <p:ph idx="1" type="body"/>
          </p:nvPr>
        </p:nvSpPr>
        <p:spPr>
          <a:xfrm>
            <a:off x="112700" y="49251"/>
            <a:ext cx="90312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300">
                <a:solidFill>
                  <a:schemeClr val="dk1"/>
                </a:solidFill>
              </a:rPr>
              <a:t>Functionalities</a:t>
            </a:r>
            <a:endParaRPr sz="2300"/>
          </a:p>
        </p:txBody>
      </p:sp>
      <p:sp>
        <p:nvSpPr>
          <p:cNvPr id="662" name="Google Shape;662;p57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Objectives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solidFill>
                  <a:schemeClr val="dk1"/>
                </a:solidFill>
              </a:rPr>
              <a:t>Technical Requirement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ER Diagram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Class Diagram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Advantages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Timeline</a:t>
            </a:r>
            <a:endParaRPr sz="800"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0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800"/>
          </a:p>
        </p:txBody>
      </p:sp>
      <p:sp>
        <p:nvSpPr>
          <p:cNvPr id="663" name="Google Shape;663;p57"/>
          <p:cNvSpPr/>
          <p:nvPr/>
        </p:nvSpPr>
        <p:spPr>
          <a:xfrm>
            <a:off x="172547" y="2753072"/>
            <a:ext cx="1310700" cy="3207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7"/>
          <p:cNvSpPr txBox="1"/>
          <p:nvPr>
            <p:ph idx="12" type="sldNum"/>
          </p:nvPr>
        </p:nvSpPr>
        <p:spPr>
          <a:xfrm>
            <a:off x="6718466" y="3893634"/>
            <a:ext cx="389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 sz="1000"/>
              <a:t>‹#›</a:t>
            </a:fld>
            <a:endParaRPr sz="1000"/>
          </a:p>
        </p:txBody>
      </p:sp>
      <p:sp>
        <p:nvSpPr>
          <p:cNvPr id="665" name="Google Shape;665;p57"/>
          <p:cNvSpPr/>
          <p:nvPr/>
        </p:nvSpPr>
        <p:spPr>
          <a:xfrm>
            <a:off x="4683893" y="2468868"/>
            <a:ext cx="1527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6" name="Google Shape;666;p57"/>
          <p:cNvGrpSpPr/>
          <p:nvPr/>
        </p:nvGrpSpPr>
        <p:grpSpPr>
          <a:xfrm>
            <a:off x="1854853" y="3892798"/>
            <a:ext cx="6566284" cy="810810"/>
            <a:chOff x="1593000" y="2322568"/>
            <a:chExt cx="5957975" cy="643500"/>
          </a:xfrm>
        </p:grpSpPr>
        <p:sp>
          <p:nvSpPr>
            <p:cNvPr id="667" name="Google Shape;667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68" name="Google Shape;668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69" name="Google Shape;669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70" name="Google Shape;670;p57"/>
            <p:cNvSpPr/>
            <p:nvPr/>
          </p:nvSpPr>
          <p:spPr>
            <a:xfrm>
              <a:off x="2311075" y="2396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Payment status displayed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1" name="Google Shape;671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72" name="Google Shape;672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05</a:t>
              </a:r>
              <a:endParaRPr sz="27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673" name="Google Shape;673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353535"/>
                  </a:solidFill>
                  <a:latin typeface="Roboto"/>
                  <a:ea typeface="Roboto"/>
                  <a:cs typeface="Roboto"/>
                  <a:sym typeface="Roboto"/>
                </a:rPr>
                <a:t>System provides  Success, or Failure message.</a:t>
              </a:r>
              <a:endParaRPr sz="900">
                <a:solidFill>
                  <a:srgbClr val="3535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 case of failure, the system notifies the user with the failure reason.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User can retry the payment or select an alternate method..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4" name="Google Shape;674;p57"/>
          <p:cNvGrpSpPr/>
          <p:nvPr/>
        </p:nvGrpSpPr>
        <p:grpSpPr>
          <a:xfrm>
            <a:off x="1854853" y="3067677"/>
            <a:ext cx="6566284" cy="810810"/>
            <a:chOff x="1593000" y="2322568"/>
            <a:chExt cx="5957975" cy="643500"/>
          </a:xfrm>
        </p:grpSpPr>
        <p:sp>
          <p:nvSpPr>
            <p:cNvPr id="675" name="Google Shape;675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76" name="Google Shape;676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77" name="Google Shape;677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78" name="Google Shape;678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Authorizing payment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9" name="Google Shape;679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80" name="Google Shape;680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27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681" name="Google Shape;681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3535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353535"/>
                  </a:solidFill>
                  <a:latin typeface="Roboto"/>
                  <a:ea typeface="Roboto"/>
                  <a:cs typeface="Roboto"/>
                  <a:sym typeface="Roboto"/>
                </a:rPr>
                <a:t>Users enter the receiver’s details( upi id/account number and ifsc code).</a:t>
              </a:r>
              <a:endParaRPr sz="900">
                <a:solidFill>
                  <a:srgbClr val="3535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3535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353535"/>
                  </a:solidFill>
                  <a:latin typeface="Roboto"/>
                  <a:ea typeface="Roboto"/>
                  <a:cs typeface="Roboto"/>
                  <a:sym typeface="Roboto"/>
                </a:rPr>
                <a:t>Users also have an option of adding a note </a:t>
              </a:r>
              <a:r>
                <a:rPr lang="en-GB" sz="900">
                  <a:solidFill>
                    <a:srgbClr val="353535"/>
                  </a:solidFill>
                  <a:latin typeface="Roboto"/>
                  <a:ea typeface="Roboto"/>
                  <a:cs typeface="Roboto"/>
                  <a:sym typeface="Roboto"/>
                </a:rPr>
                <a:t>along</a:t>
              </a:r>
              <a:r>
                <a:rPr lang="en-GB" sz="900">
                  <a:solidFill>
                    <a:srgbClr val="353535"/>
                  </a:solidFill>
                  <a:latin typeface="Roboto"/>
                  <a:ea typeface="Roboto"/>
                  <a:cs typeface="Roboto"/>
                  <a:sym typeface="Roboto"/>
                </a:rPr>
                <a:t> with their payments.</a:t>
              </a:r>
              <a:endParaRPr sz="900">
                <a:solidFill>
                  <a:srgbClr val="3535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3535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353535"/>
                  </a:solidFill>
                  <a:latin typeface="Roboto"/>
                  <a:ea typeface="Roboto"/>
                  <a:cs typeface="Roboto"/>
                  <a:sym typeface="Roboto"/>
                </a:rPr>
                <a:t>Users enter their pin to authorize the payment.</a:t>
              </a:r>
              <a:endParaRPr sz="900">
                <a:solidFill>
                  <a:srgbClr val="3535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2" name="Google Shape;682;p57"/>
          <p:cNvGrpSpPr/>
          <p:nvPr/>
        </p:nvGrpSpPr>
        <p:grpSpPr>
          <a:xfrm>
            <a:off x="1854853" y="2242523"/>
            <a:ext cx="6566284" cy="810810"/>
            <a:chOff x="1593000" y="2322568"/>
            <a:chExt cx="5957975" cy="643500"/>
          </a:xfrm>
        </p:grpSpPr>
        <p:sp>
          <p:nvSpPr>
            <p:cNvPr id="683" name="Google Shape;683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84" name="Google Shape;684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85" name="Google Shape;685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86" name="Google Shape;686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Choosing payment option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7" name="Google Shape;687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88" name="Google Shape;688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7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689" name="Google Shape;689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User can choose between UPI payment or Bank to Bank transfer.</a:t>
              </a:r>
              <a:endParaRPr sz="9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System provides interfaces for both for a seamless experience.</a:t>
              </a:r>
              <a:endParaRPr sz="9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0" name="Google Shape;690;p57"/>
          <p:cNvGrpSpPr/>
          <p:nvPr/>
        </p:nvGrpSpPr>
        <p:grpSpPr>
          <a:xfrm>
            <a:off x="1854853" y="1417412"/>
            <a:ext cx="6566284" cy="810810"/>
            <a:chOff x="1593000" y="2322568"/>
            <a:chExt cx="5957975" cy="643500"/>
          </a:xfrm>
        </p:grpSpPr>
        <p:sp>
          <p:nvSpPr>
            <p:cNvPr id="691" name="Google Shape;691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92" name="Google Shape;692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93" name="Google Shape;693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94" name="Google Shape;694;p57"/>
            <p:cNvSpPr/>
            <p:nvPr/>
          </p:nvSpPr>
          <p:spPr>
            <a:xfrm>
              <a:off x="2311075" y="23963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Linking user’s bank account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5" name="Google Shape;695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696" name="Google Shape;696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7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697" name="Google Shape;697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User’s bank Account is automatically linked.</a:t>
              </a:r>
              <a:endParaRPr sz="9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Account is linked </a:t>
              </a: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automatically</a:t>
              </a: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 when setting the pin</a:t>
              </a:r>
              <a:endParaRPr sz="9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System displays success message.</a:t>
              </a:r>
              <a:endParaRPr sz="9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8" name="Google Shape;698;p57"/>
          <p:cNvGrpSpPr/>
          <p:nvPr/>
        </p:nvGrpSpPr>
        <p:grpSpPr>
          <a:xfrm>
            <a:off x="1854853" y="592280"/>
            <a:ext cx="6566284" cy="810810"/>
            <a:chOff x="1593000" y="2322568"/>
            <a:chExt cx="5957975" cy="643500"/>
          </a:xfrm>
        </p:grpSpPr>
        <p:sp>
          <p:nvSpPr>
            <p:cNvPr id="699" name="Google Shape;699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700" name="Google Shape;700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701" name="Google Shape;701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702" name="Google Shape;702;p57"/>
            <p:cNvSpPr/>
            <p:nvPr/>
          </p:nvSpPr>
          <p:spPr>
            <a:xfrm>
              <a:off x="2311075" y="23963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Setting Transaction Pin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3" name="Google Shape;703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704" name="Google Shape;704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7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705" name="Google Shape;705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User selects the "Set Transaction Pin" option. </a:t>
              </a:r>
              <a:endParaRPr sz="9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User inputs pin details (set pin, confirm pin).</a:t>
              </a:r>
              <a:endParaRPr sz="9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81818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181818"/>
                  </a:solidFill>
                  <a:latin typeface="Roboto"/>
                  <a:ea typeface="Roboto"/>
                  <a:cs typeface="Roboto"/>
                  <a:sym typeface="Roboto"/>
                </a:rPr>
                <a:t>System displays success message.</a:t>
              </a:r>
              <a:endParaRPr sz="900">
                <a:solidFill>
                  <a:srgbClr val="18181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06" name="Google Shape;706;p57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8"/>
          <p:cNvSpPr txBox="1"/>
          <p:nvPr>
            <p:ph idx="1" type="body"/>
          </p:nvPr>
        </p:nvSpPr>
        <p:spPr>
          <a:xfrm>
            <a:off x="112700" y="49251"/>
            <a:ext cx="90312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User Functions</a:t>
            </a:r>
            <a:endParaRPr/>
          </a:p>
        </p:txBody>
      </p:sp>
      <p:sp>
        <p:nvSpPr>
          <p:cNvPr id="713" name="Google Shape;713;p58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714" name="Google Shape;714;p58"/>
          <p:cNvSpPr/>
          <p:nvPr/>
        </p:nvSpPr>
        <p:spPr>
          <a:xfrm>
            <a:off x="172550" y="2981675"/>
            <a:ext cx="1306200" cy="3183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8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6" name="Google Shape;716;p58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8"/>
          <p:cNvSpPr txBox="1"/>
          <p:nvPr/>
        </p:nvSpPr>
        <p:spPr>
          <a:xfrm>
            <a:off x="1647411" y="806955"/>
            <a:ext cx="6614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225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functionality the </a:t>
            </a:r>
            <a:r>
              <a:rPr lang="en-GB" sz="1400">
                <a:solidFill>
                  <a:schemeClr val="dk1"/>
                </a:solidFill>
              </a:rPr>
              <a:t>user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</a:t>
            </a:r>
            <a:r>
              <a:rPr lang="en-GB">
                <a:solidFill>
                  <a:schemeClr val="dk1"/>
                </a:solidFill>
              </a:rPr>
              <a:t>either opt for Bank Transfer or UPI Payment after setting their pin and linking </a:t>
            </a:r>
            <a:r>
              <a:rPr lang="en-GB">
                <a:solidFill>
                  <a:schemeClr val="dk1"/>
                </a:solidFill>
              </a:rPr>
              <a:t>their</a:t>
            </a:r>
            <a:r>
              <a:rPr lang="en-GB">
                <a:solidFill>
                  <a:schemeClr val="dk1"/>
                </a:solidFill>
              </a:rPr>
              <a:t> accounts.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58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19" name="Google Shape;71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525" y="1589010"/>
            <a:ext cx="3072036" cy="1482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3425" y="1580199"/>
            <a:ext cx="3072026" cy="1475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8525" y="3282237"/>
            <a:ext cx="3072023" cy="14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58"/>
          <p:cNvPicPr preferRelativeResize="0"/>
          <p:nvPr/>
        </p:nvPicPr>
        <p:blipFill rotWithShape="1">
          <a:blip r:embed="rId6">
            <a:alphaModFix/>
          </a:blip>
          <a:srcRect b="-3899" l="0" r="0" t="3900"/>
          <a:stretch/>
        </p:blipFill>
        <p:spPr>
          <a:xfrm>
            <a:off x="5739650" y="3314875"/>
            <a:ext cx="3072023" cy="14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 txBox="1"/>
          <p:nvPr>
            <p:ph idx="1" type="body"/>
          </p:nvPr>
        </p:nvSpPr>
        <p:spPr>
          <a:xfrm>
            <a:off x="112700" y="49251"/>
            <a:ext cx="90312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User Functions</a:t>
            </a:r>
            <a:endParaRPr/>
          </a:p>
        </p:txBody>
      </p:sp>
      <p:sp>
        <p:nvSpPr>
          <p:cNvPr id="729" name="Google Shape;729;p59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730" name="Google Shape;730;p59"/>
          <p:cNvSpPr/>
          <p:nvPr/>
        </p:nvSpPr>
        <p:spPr>
          <a:xfrm>
            <a:off x="172550" y="2981675"/>
            <a:ext cx="1341900" cy="3183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9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32" name="Google Shape;732;p59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9"/>
          <p:cNvSpPr txBox="1"/>
          <p:nvPr/>
        </p:nvSpPr>
        <p:spPr>
          <a:xfrm>
            <a:off x="1647411" y="806955"/>
            <a:ext cx="6614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8575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GB" sz="1400">
                <a:solidFill>
                  <a:schemeClr val="dk1"/>
                </a:solidFill>
              </a:rPr>
              <a:t>User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functionalities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9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35" name="Google Shape;73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2725" y="1350300"/>
            <a:ext cx="3205975" cy="1518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59"/>
          <p:cNvPicPr preferRelativeResize="0"/>
          <p:nvPr/>
        </p:nvPicPr>
        <p:blipFill rotWithShape="1">
          <a:blip r:embed="rId5">
            <a:alphaModFix/>
          </a:blip>
          <a:srcRect b="0" l="2362" r="0" t="0"/>
          <a:stretch/>
        </p:blipFill>
        <p:spPr>
          <a:xfrm>
            <a:off x="5637688" y="1365175"/>
            <a:ext cx="3205975" cy="153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2400" y="3228250"/>
            <a:ext cx="3167799" cy="1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59"/>
          <p:cNvPicPr preferRelativeResize="0"/>
          <p:nvPr/>
        </p:nvPicPr>
        <p:blipFill rotWithShape="1">
          <a:blip r:embed="rId7">
            <a:alphaModFix/>
          </a:blip>
          <a:srcRect b="0" l="2181" r="0" t="0"/>
          <a:stretch/>
        </p:blipFill>
        <p:spPr>
          <a:xfrm>
            <a:off x="5637700" y="3228250"/>
            <a:ext cx="3205975" cy="1486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0"/>
          <p:cNvSpPr txBox="1"/>
          <p:nvPr>
            <p:ph idx="1" type="body"/>
          </p:nvPr>
        </p:nvSpPr>
        <p:spPr>
          <a:xfrm>
            <a:off x="112700" y="49251"/>
            <a:ext cx="9031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Advantages</a:t>
            </a:r>
            <a:endParaRPr/>
          </a:p>
        </p:txBody>
      </p:sp>
      <p:sp>
        <p:nvSpPr>
          <p:cNvPr id="745" name="Google Shape;745;p60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746" name="Google Shape;746;p60"/>
          <p:cNvSpPr/>
          <p:nvPr/>
        </p:nvSpPr>
        <p:spPr>
          <a:xfrm>
            <a:off x="190389" y="3309664"/>
            <a:ext cx="1211100" cy="3183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0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8" name="Google Shape;748;p60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60"/>
          <p:cNvSpPr txBox="1"/>
          <p:nvPr/>
        </p:nvSpPr>
        <p:spPr>
          <a:xfrm>
            <a:off x="1647411" y="806955"/>
            <a:ext cx="6614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85980"/>
                </a:solidFill>
              </a:rPr>
              <a:t>1. Seamless Payment Initiation</a:t>
            </a:r>
            <a:endParaRPr b="1" sz="1300">
              <a:solidFill>
                <a:srgbClr val="F8598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Users can easily initiate payments with minimal steps, improving the overall user experience.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85980"/>
                </a:solidFill>
              </a:rPr>
              <a:t>2. Secure Authorization Process</a:t>
            </a:r>
            <a:endParaRPr b="1" sz="1300">
              <a:solidFill>
                <a:srgbClr val="F8598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Advanced security measures, such as UPI Pin authentication, ensure that payments are authorized safely, protecting users from unauthorized transactions.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85980"/>
                </a:solidFill>
              </a:rPr>
              <a:t>3. Real-time Tracking</a:t>
            </a:r>
            <a:endParaRPr b="1" sz="1300">
              <a:solidFill>
                <a:srgbClr val="F8598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Users receives a </a:t>
            </a:r>
            <a:r>
              <a:rPr lang="en-GB" sz="1100"/>
              <a:t>confirmation</a:t>
            </a:r>
            <a:r>
              <a:rPr lang="en-GB" sz="1100"/>
              <a:t> message updates on their payment status, allowing them to track every transaction in real time for better transparency and control.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85980"/>
                </a:solidFill>
              </a:rPr>
              <a:t>4. Reliable Error Handling</a:t>
            </a:r>
            <a:endParaRPr b="1" sz="1300">
              <a:solidFill>
                <a:srgbClr val="F8598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In the event of payment failures, the system provides clear reason and allows users to retry payments or select alternate methods, ensuring a smooth user experience even in case of issues.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60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112700" y="49251"/>
            <a:ext cx="9031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Execution Approach </a:t>
            </a:r>
            <a:endParaRPr/>
          </a:p>
        </p:txBody>
      </p:sp>
      <p:sp>
        <p:nvSpPr>
          <p:cNvPr id="757" name="Google Shape;757;p61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b="0" lang="en-GB" sz="1100"/>
              <a:t>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758" name="Google Shape;758;p61"/>
          <p:cNvSpPr/>
          <p:nvPr/>
        </p:nvSpPr>
        <p:spPr>
          <a:xfrm>
            <a:off x="172547" y="3637655"/>
            <a:ext cx="1211100" cy="3183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1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0" name="Google Shape;760;p61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1" name="Google Shape;761;p61"/>
          <p:cNvGrpSpPr/>
          <p:nvPr/>
        </p:nvGrpSpPr>
        <p:grpSpPr>
          <a:xfrm>
            <a:off x="1661475" y="806934"/>
            <a:ext cx="6712997" cy="3477998"/>
            <a:chOff x="0" y="501995"/>
            <a:chExt cx="8128099" cy="3302001"/>
          </a:xfrm>
        </p:grpSpPr>
        <p:sp>
          <p:nvSpPr>
            <p:cNvPr id="762" name="Google Shape;762;p61"/>
            <p:cNvSpPr/>
            <p:nvPr/>
          </p:nvSpPr>
          <p:spPr>
            <a:xfrm>
              <a:off x="0" y="501995"/>
              <a:ext cx="2540100" cy="1524000"/>
            </a:xfrm>
            <a:prstGeom prst="rect">
              <a:avLst/>
            </a:prstGeom>
            <a:gradFill>
              <a:gsLst>
                <a:gs pos="0">
                  <a:srgbClr val="BEBEBE"/>
                </a:gs>
                <a:gs pos="35000">
                  <a:srgbClr val="D2D2D2"/>
                </a:gs>
                <a:gs pos="100000">
                  <a:srgbClr val="EEEEEE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61"/>
            <p:cNvSpPr txBox="1"/>
            <p:nvPr/>
          </p:nvSpPr>
          <p:spPr>
            <a:xfrm>
              <a:off x="0" y="501995"/>
              <a:ext cx="2540100" cy="1524000"/>
            </a:xfrm>
            <a:prstGeom prst="rect">
              <a:avLst/>
            </a:prstGeom>
            <a:solidFill>
              <a:srgbClr val="FFF5CD"/>
            </a:solidFill>
            <a:ln>
              <a:noFill/>
            </a:ln>
          </p:spPr>
          <p:txBody>
            <a:bodyPr anchorCtr="0" anchor="t" bIns="60000" lIns="60000" spcFirstLastPara="1" rIns="60000" wrap="square" tIns="6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rgbClr val="181818"/>
                  </a:solidFill>
                </a:rPr>
                <a:t>PHASE 1</a:t>
              </a:r>
              <a:endParaRPr b="1" i="0" sz="1600" u="none" cap="none" strike="noStrike">
                <a:solidFill>
                  <a:srgbClr val="181818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sz="1600">
                <a:solidFill>
                  <a:srgbClr val="181818"/>
                </a:solidFill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Class and test cases/script development for EZ-Pay Payment process (Use case 2) Module</a:t>
              </a:r>
              <a:endParaRPr sz="1200">
                <a:solidFill>
                  <a:srgbClr val="181818"/>
                </a:solidFill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Duration: </a:t>
              </a:r>
              <a:r>
                <a:rPr lang="en-GB" sz="1200">
                  <a:solidFill>
                    <a:srgbClr val="181818"/>
                  </a:solidFill>
                </a:rPr>
                <a:t>1</a:t>
              </a:r>
              <a:r>
                <a:rPr b="0" i="0" lang="en-GB" sz="12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 Week</a:t>
              </a:r>
              <a:endParaRPr b="0" i="0" sz="11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61"/>
            <p:cNvSpPr/>
            <p:nvPr/>
          </p:nvSpPr>
          <p:spPr>
            <a:xfrm>
              <a:off x="2794000" y="501995"/>
              <a:ext cx="2540100" cy="1524000"/>
            </a:xfrm>
            <a:prstGeom prst="rect">
              <a:avLst/>
            </a:prstGeom>
            <a:gradFill>
              <a:gsLst>
                <a:gs pos="0">
                  <a:srgbClr val="BEBEBE"/>
                </a:gs>
                <a:gs pos="35000">
                  <a:srgbClr val="D2D2D2"/>
                </a:gs>
                <a:gs pos="100000">
                  <a:srgbClr val="EEEEEE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61"/>
            <p:cNvSpPr txBox="1"/>
            <p:nvPr/>
          </p:nvSpPr>
          <p:spPr>
            <a:xfrm>
              <a:off x="2794000" y="501995"/>
              <a:ext cx="2540100" cy="15240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t" bIns="60000" lIns="60000" spcFirstLastPara="1" rIns="60000" wrap="square" tIns="6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rgbClr val="181818"/>
                  </a:solidFill>
                </a:rPr>
                <a:t>PHASE 2</a:t>
              </a:r>
              <a:endParaRPr b="1" i="0" sz="1600" u="none" cap="none" strike="noStrike">
                <a:solidFill>
                  <a:srgbClr val="181818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rgbClr val="181818"/>
                </a:solidFill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Data access classes development for EZ-Pay Payment Process (Use case 2) Module</a:t>
              </a:r>
              <a:endParaRPr sz="1200">
                <a:solidFill>
                  <a:srgbClr val="181818"/>
                </a:solidFill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Duration: </a:t>
              </a:r>
              <a:r>
                <a:rPr lang="en-GB" sz="1200">
                  <a:solidFill>
                    <a:srgbClr val="181818"/>
                  </a:solidFill>
                </a:rPr>
                <a:t>1</a:t>
              </a:r>
              <a:r>
                <a:rPr b="0" i="0" lang="en-GB" sz="12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 Week</a:t>
              </a:r>
              <a:endParaRPr b="0" i="0" sz="11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61"/>
            <p:cNvSpPr/>
            <p:nvPr/>
          </p:nvSpPr>
          <p:spPr>
            <a:xfrm>
              <a:off x="5587999" y="501995"/>
              <a:ext cx="2540100" cy="1524000"/>
            </a:xfrm>
            <a:prstGeom prst="rect">
              <a:avLst/>
            </a:prstGeom>
            <a:gradFill>
              <a:gsLst>
                <a:gs pos="0">
                  <a:srgbClr val="BEBEBE"/>
                </a:gs>
                <a:gs pos="35000">
                  <a:srgbClr val="D2D2D2"/>
                </a:gs>
                <a:gs pos="100000">
                  <a:srgbClr val="EEEEEE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61"/>
            <p:cNvSpPr txBox="1"/>
            <p:nvPr/>
          </p:nvSpPr>
          <p:spPr>
            <a:xfrm>
              <a:off x="5587999" y="501995"/>
              <a:ext cx="2540100" cy="15240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t" bIns="60000" lIns="60000" spcFirstLastPara="1" rIns="60000" wrap="square" tIns="6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rgbClr val="181818"/>
                  </a:solidFill>
                </a:rPr>
                <a:t>PHASE 3</a:t>
              </a:r>
              <a:endParaRPr b="1" i="0" sz="1600" u="none" cap="none" strike="noStrike">
                <a:solidFill>
                  <a:srgbClr val="181818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rgbClr val="181818"/>
                </a:solidFill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Adding business logic layer, implement </a:t>
              </a:r>
              <a:r>
                <a:rPr lang="en-GB" sz="1200">
                  <a:solidFill>
                    <a:srgbClr val="181818"/>
                  </a:solidFill>
                </a:rPr>
                <a:t>Spring Boot</a:t>
              </a:r>
              <a:r>
                <a:rPr lang="en-GB" sz="1200">
                  <a:solidFill>
                    <a:srgbClr val="181818"/>
                  </a:solidFill>
                </a:rPr>
                <a:t> Data JPA for Payment Process Module</a:t>
              </a:r>
              <a:endParaRPr b="0" i="0" sz="12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Duration: </a:t>
              </a:r>
              <a:r>
                <a:rPr lang="en-GB" sz="1200">
                  <a:solidFill>
                    <a:srgbClr val="181818"/>
                  </a:solidFill>
                </a:rPr>
                <a:t>1</a:t>
              </a:r>
              <a:r>
                <a:rPr b="0" i="0" lang="en-GB" sz="12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 Week</a:t>
              </a:r>
              <a:endParaRPr b="0" i="0" sz="11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61"/>
            <p:cNvSpPr/>
            <p:nvPr/>
          </p:nvSpPr>
          <p:spPr>
            <a:xfrm>
              <a:off x="1397000" y="2279996"/>
              <a:ext cx="2540100" cy="1524000"/>
            </a:xfrm>
            <a:prstGeom prst="rect">
              <a:avLst/>
            </a:prstGeom>
            <a:gradFill>
              <a:gsLst>
                <a:gs pos="0">
                  <a:srgbClr val="BEBEBE"/>
                </a:gs>
                <a:gs pos="35000">
                  <a:srgbClr val="D2D2D2"/>
                </a:gs>
                <a:gs pos="100000">
                  <a:srgbClr val="EEEEEE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61"/>
            <p:cNvSpPr txBox="1"/>
            <p:nvPr/>
          </p:nvSpPr>
          <p:spPr>
            <a:xfrm>
              <a:off x="1368129" y="2279996"/>
              <a:ext cx="2568900" cy="15240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t" bIns="60000" lIns="60000" spcFirstLastPara="1" rIns="60000" wrap="square" tIns="6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rgbClr val="181818"/>
                  </a:solidFill>
                </a:rPr>
                <a:t>PHASE 4</a:t>
              </a:r>
              <a:endParaRPr b="1" i="0" sz="1100" u="none" cap="none" strike="noStrike">
                <a:solidFill>
                  <a:srgbClr val="181818"/>
                </a:solidFill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Develop UI pages with React and CSS styling, integrate with spring boot data JPA for EZ-Pay Payment Process (Use case 2) Module</a:t>
              </a:r>
              <a:endParaRPr sz="1200">
                <a:solidFill>
                  <a:srgbClr val="181818"/>
                </a:solidFill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Duration: </a:t>
              </a:r>
              <a:r>
                <a:rPr b="0" i="0" lang="en-GB" sz="12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1 Week</a:t>
              </a:r>
              <a:endParaRPr b="0" i="0" sz="11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61"/>
            <p:cNvSpPr/>
            <p:nvPr/>
          </p:nvSpPr>
          <p:spPr>
            <a:xfrm>
              <a:off x="4191000" y="2279996"/>
              <a:ext cx="2540100" cy="1524000"/>
            </a:xfrm>
            <a:prstGeom prst="rect">
              <a:avLst/>
            </a:prstGeom>
            <a:gradFill>
              <a:gsLst>
                <a:gs pos="0">
                  <a:srgbClr val="BEBEBE"/>
                </a:gs>
                <a:gs pos="35000">
                  <a:srgbClr val="D2D2D2"/>
                </a:gs>
                <a:gs pos="100000">
                  <a:srgbClr val="EEEEEE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61"/>
            <p:cNvSpPr txBox="1"/>
            <p:nvPr/>
          </p:nvSpPr>
          <p:spPr>
            <a:xfrm>
              <a:off x="4191000" y="2279996"/>
              <a:ext cx="2540100" cy="1524000"/>
            </a:xfrm>
            <a:prstGeom prst="rect">
              <a:avLst/>
            </a:prstGeom>
            <a:solidFill>
              <a:srgbClr val="FFF5CD"/>
            </a:solidFill>
            <a:ln>
              <a:noFill/>
            </a:ln>
          </p:spPr>
          <p:txBody>
            <a:bodyPr anchorCtr="0" anchor="t" bIns="60000" lIns="60000" spcFirstLastPara="1" rIns="60000" wrap="square" tIns="6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PHASE 5</a:t>
              </a:r>
              <a:endParaRPr b="0" i="0" sz="11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rgbClr val="181818"/>
                  </a:solidFill>
                </a:rPr>
                <a:t>Migration to Spring and implement CI/CD for EZ-Pay Payment Process (Use case 2) Module</a:t>
              </a:r>
              <a:endParaRPr sz="1200">
                <a:solidFill>
                  <a:srgbClr val="181818"/>
                </a:solidFill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181818"/>
                </a:buClr>
                <a:buSzPts val="1200"/>
                <a:buFont typeface="Arial"/>
                <a:buChar char="•"/>
              </a:pPr>
              <a:r>
                <a:rPr b="0" i="0" lang="en-GB" sz="12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1 Week</a:t>
              </a:r>
              <a:endParaRPr b="0" i="0" sz="11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2" name="Google Shape;772;p61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2"/>
          <p:cNvSpPr txBox="1"/>
          <p:nvPr>
            <p:ph idx="1" type="body"/>
          </p:nvPr>
        </p:nvSpPr>
        <p:spPr>
          <a:xfrm>
            <a:off x="112700" y="49251"/>
            <a:ext cx="90312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accent1"/>
                </a:solidFill>
              </a:rPr>
              <a:t>Methodology and Timeline</a:t>
            </a:r>
            <a:endParaRPr/>
          </a:p>
        </p:txBody>
      </p:sp>
      <p:sp>
        <p:nvSpPr>
          <p:cNvPr id="779" name="Google Shape;779;p62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780" name="Google Shape;780;p62"/>
          <p:cNvSpPr/>
          <p:nvPr/>
        </p:nvSpPr>
        <p:spPr>
          <a:xfrm>
            <a:off x="172547" y="3637655"/>
            <a:ext cx="1211100" cy="3183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62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2" name="Google Shape;782;p62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3" name="Google Shape;783;p62"/>
          <p:cNvGrpSpPr/>
          <p:nvPr/>
        </p:nvGrpSpPr>
        <p:grpSpPr>
          <a:xfrm>
            <a:off x="2163050" y="450949"/>
            <a:ext cx="5676975" cy="4804690"/>
            <a:chOff x="0" y="1567"/>
            <a:chExt cx="7569300" cy="6406253"/>
          </a:xfrm>
        </p:grpSpPr>
        <p:cxnSp>
          <p:nvCxnSpPr>
            <p:cNvPr id="784" name="Google Shape;784;p62"/>
            <p:cNvCxnSpPr/>
            <p:nvPr/>
          </p:nvCxnSpPr>
          <p:spPr>
            <a:xfrm>
              <a:off x="0" y="5415020"/>
              <a:ext cx="7569300" cy="0"/>
            </a:xfrm>
            <a:prstGeom prst="straightConnector1">
              <a:avLst/>
            </a:prstGeom>
            <a:noFill/>
            <a:ln cap="flat" cmpd="sng" w="25400">
              <a:solidFill>
                <a:srgbClr val="35353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5" name="Google Shape;785;p62"/>
            <p:cNvCxnSpPr/>
            <p:nvPr/>
          </p:nvCxnSpPr>
          <p:spPr>
            <a:xfrm>
              <a:off x="0" y="4007927"/>
              <a:ext cx="7569300" cy="0"/>
            </a:xfrm>
            <a:prstGeom prst="straightConnector1">
              <a:avLst/>
            </a:prstGeom>
            <a:noFill/>
            <a:ln cap="flat" cmpd="sng" w="25400">
              <a:solidFill>
                <a:srgbClr val="35353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6" name="Google Shape;786;p62"/>
            <p:cNvCxnSpPr/>
            <p:nvPr/>
          </p:nvCxnSpPr>
          <p:spPr>
            <a:xfrm>
              <a:off x="0" y="2804034"/>
              <a:ext cx="7569300" cy="0"/>
            </a:xfrm>
            <a:prstGeom prst="straightConnector1">
              <a:avLst/>
            </a:prstGeom>
            <a:noFill/>
            <a:ln cap="flat" cmpd="sng" w="25400">
              <a:solidFill>
                <a:srgbClr val="35353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7" name="Google Shape;787;p62"/>
            <p:cNvCxnSpPr/>
            <p:nvPr/>
          </p:nvCxnSpPr>
          <p:spPr>
            <a:xfrm>
              <a:off x="0" y="1600140"/>
              <a:ext cx="7569300" cy="0"/>
            </a:xfrm>
            <a:prstGeom prst="straightConnector1">
              <a:avLst/>
            </a:prstGeom>
            <a:noFill/>
            <a:ln cap="flat" cmpd="sng" w="25400">
              <a:solidFill>
                <a:srgbClr val="35353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8" name="Google Shape;788;p62"/>
            <p:cNvCxnSpPr/>
            <p:nvPr/>
          </p:nvCxnSpPr>
          <p:spPr>
            <a:xfrm>
              <a:off x="0" y="396247"/>
              <a:ext cx="7569300" cy="0"/>
            </a:xfrm>
            <a:prstGeom prst="straightConnector1">
              <a:avLst/>
            </a:prstGeom>
            <a:noFill/>
            <a:ln cap="flat" cmpd="sng" w="25400">
              <a:solidFill>
                <a:srgbClr val="35353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9" name="Google Shape;789;p62"/>
            <p:cNvSpPr/>
            <p:nvPr/>
          </p:nvSpPr>
          <p:spPr>
            <a:xfrm>
              <a:off x="1967992" y="1567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62"/>
            <p:cNvSpPr txBox="1"/>
            <p:nvPr/>
          </p:nvSpPr>
          <p:spPr>
            <a:xfrm>
              <a:off x="1967992" y="1567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1425" lIns="31425" spcFirstLastPara="1" rIns="31425" wrap="square" tIns="3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GB" sz="1600">
                  <a:solidFill>
                    <a:srgbClr val="F85980"/>
                  </a:solidFill>
                </a:rPr>
                <a:t>12</a:t>
              </a:r>
              <a:r>
                <a:rPr baseline="30000" lang="en-GB" sz="1600">
                  <a:solidFill>
                    <a:srgbClr val="F85980"/>
                  </a:solidFill>
                </a:rPr>
                <a:t>th</a:t>
              </a:r>
              <a:r>
                <a:rPr lang="en-GB" sz="1600">
                  <a:solidFill>
                    <a:srgbClr val="F85980"/>
                  </a:solidFill>
                </a:rPr>
                <a:t>- 21</a:t>
              </a:r>
              <a:r>
                <a:rPr b="0" baseline="30000" i="0" lang="en-GB" sz="1600" u="none" cap="none" strike="noStrike">
                  <a:solidFill>
                    <a:srgbClr val="F85980"/>
                  </a:solidFill>
                  <a:latin typeface="Arial"/>
                  <a:ea typeface="Arial"/>
                  <a:cs typeface="Arial"/>
                  <a:sym typeface="Arial"/>
                </a:rPr>
                <a:t>st</a:t>
              </a:r>
              <a:r>
                <a:rPr b="0" i="0" lang="en-GB" sz="1600" u="none" cap="none" strike="noStrike">
                  <a:solidFill>
                    <a:srgbClr val="F8598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600">
                  <a:solidFill>
                    <a:srgbClr val="F85980"/>
                  </a:solidFill>
                </a:rPr>
                <a:t>AUG</a:t>
              </a:r>
              <a:r>
                <a:rPr b="0" i="0" lang="en-GB" sz="1600" u="none" cap="none" strike="noStrike">
                  <a:solidFill>
                    <a:srgbClr val="F85980"/>
                  </a:solidFill>
                  <a:latin typeface="Arial"/>
                  <a:ea typeface="Arial"/>
                  <a:cs typeface="Arial"/>
                  <a:sym typeface="Arial"/>
                </a:rPr>
                <a:t> 202</a:t>
              </a:r>
              <a:r>
                <a:rPr lang="en-GB" sz="1600">
                  <a:solidFill>
                    <a:srgbClr val="F85980"/>
                  </a:solidFill>
                </a:rPr>
                <a:t>4</a:t>
              </a:r>
              <a:endParaRPr b="0" i="0" sz="1600" u="none" cap="none" strike="noStrike">
                <a:solidFill>
                  <a:srgbClr val="F859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62"/>
            <p:cNvSpPr/>
            <p:nvPr/>
          </p:nvSpPr>
          <p:spPr>
            <a:xfrm>
              <a:off x="0" y="1567"/>
              <a:ext cx="1968000" cy="394800"/>
            </a:xfrm>
            <a:prstGeom prst="round2SameRect">
              <a:avLst>
                <a:gd fmla="val 16670" name="adj1"/>
                <a:gd fmla="val 0" name="adj2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62"/>
            <p:cNvSpPr txBox="1"/>
            <p:nvPr/>
          </p:nvSpPr>
          <p:spPr>
            <a:xfrm>
              <a:off x="19270" y="20837"/>
              <a:ext cx="1929600" cy="3753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31425" lIns="31425" spcFirstLastPara="1" rIns="31425" wrap="square" tIns="3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Sprint </a:t>
              </a:r>
              <a:r>
                <a:rPr lang="en-GB" sz="1600">
                  <a:solidFill>
                    <a:srgbClr val="181818"/>
                  </a:solidFill>
                </a:rPr>
                <a:t>1</a:t>
              </a:r>
              <a:endParaRPr b="0" i="0" sz="10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62"/>
            <p:cNvSpPr/>
            <p:nvPr/>
          </p:nvSpPr>
          <p:spPr>
            <a:xfrm>
              <a:off x="0" y="396247"/>
              <a:ext cx="7569300" cy="7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62"/>
            <p:cNvSpPr txBox="1"/>
            <p:nvPr/>
          </p:nvSpPr>
          <p:spPr>
            <a:xfrm>
              <a:off x="0" y="497835"/>
              <a:ext cx="75693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17150" spcFirstLastPara="1" rIns="17150" wrap="square" tIns="17150">
              <a:noAutofit/>
            </a:bodyPr>
            <a:lstStyle/>
            <a:p>
              <a:pPr indent="-571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Create class/methods related to UPI Service Module and Banking Service Module</a:t>
              </a:r>
              <a:endParaRPr sz="9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Create test class/methods related to UPI Service Module and Banking Service Module</a:t>
              </a:r>
              <a:endParaRPr sz="9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Code review for the class/methods developed</a:t>
              </a:r>
              <a:endParaRPr sz="900">
                <a:solidFill>
                  <a:schemeClr val="dk1"/>
                </a:solidFill>
              </a:endParaRPr>
            </a:p>
            <a:p>
              <a:pPr indent="0" lvl="0" marL="6858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62"/>
            <p:cNvSpPr/>
            <p:nvPr/>
          </p:nvSpPr>
          <p:spPr>
            <a:xfrm>
              <a:off x="1967992" y="1205460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62"/>
            <p:cNvSpPr txBox="1"/>
            <p:nvPr/>
          </p:nvSpPr>
          <p:spPr>
            <a:xfrm>
              <a:off x="1967992" y="1205460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1425" lIns="31425" spcFirstLastPara="1" rIns="31425" wrap="square" tIns="3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GB" sz="1600">
                  <a:solidFill>
                    <a:srgbClr val="F85980"/>
                  </a:solidFill>
                </a:rPr>
                <a:t>22</a:t>
              </a:r>
              <a:r>
                <a:rPr baseline="30000" lang="en-GB" sz="1600">
                  <a:solidFill>
                    <a:srgbClr val="F85980"/>
                  </a:solidFill>
                </a:rPr>
                <a:t>n</a:t>
              </a:r>
              <a:r>
                <a:rPr baseline="30000" lang="en-GB" sz="1600">
                  <a:solidFill>
                    <a:srgbClr val="F85980"/>
                  </a:solidFill>
                </a:rPr>
                <a:t>d</a:t>
              </a:r>
              <a:r>
                <a:rPr lang="en-GB" sz="1600">
                  <a:solidFill>
                    <a:srgbClr val="F85980"/>
                  </a:solidFill>
                </a:rPr>
                <a:t>- 26</a:t>
              </a:r>
              <a:r>
                <a:rPr baseline="30000" lang="en-GB" sz="1600">
                  <a:solidFill>
                    <a:srgbClr val="F85980"/>
                  </a:solidFill>
                </a:rPr>
                <a:t>th</a:t>
              </a:r>
              <a:r>
                <a:rPr lang="en-GB" sz="1600">
                  <a:solidFill>
                    <a:srgbClr val="F85980"/>
                  </a:solidFill>
                </a:rPr>
                <a:t> AUG 2024</a:t>
              </a:r>
              <a:endParaRPr b="0" i="0" sz="1000" u="none" cap="none" strike="noStrike">
                <a:solidFill>
                  <a:srgbClr val="F859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62"/>
            <p:cNvSpPr/>
            <p:nvPr/>
          </p:nvSpPr>
          <p:spPr>
            <a:xfrm>
              <a:off x="0" y="1205460"/>
              <a:ext cx="1968000" cy="394800"/>
            </a:xfrm>
            <a:prstGeom prst="round2SameRect">
              <a:avLst>
                <a:gd fmla="val 16670" name="adj1"/>
                <a:gd fmla="val 0" name="adj2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62"/>
            <p:cNvSpPr txBox="1"/>
            <p:nvPr/>
          </p:nvSpPr>
          <p:spPr>
            <a:xfrm>
              <a:off x="19270" y="1224730"/>
              <a:ext cx="1929600" cy="3753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31425" lIns="31425" spcFirstLastPara="1" rIns="31425" wrap="square" tIns="3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Sprint </a:t>
              </a:r>
              <a:r>
                <a:rPr lang="en-GB" sz="1600">
                  <a:solidFill>
                    <a:srgbClr val="181818"/>
                  </a:solidFill>
                </a:rPr>
                <a:t>2</a:t>
              </a:r>
              <a:endParaRPr b="0" i="0" sz="10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62"/>
            <p:cNvSpPr/>
            <p:nvPr/>
          </p:nvSpPr>
          <p:spPr>
            <a:xfrm>
              <a:off x="0" y="1600140"/>
              <a:ext cx="7569300" cy="7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62"/>
            <p:cNvSpPr txBox="1"/>
            <p:nvPr/>
          </p:nvSpPr>
          <p:spPr>
            <a:xfrm>
              <a:off x="0" y="1685735"/>
              <a:ext cx="6211500" cy="7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17150" spcFirstLastPara="1" rIns="17150" wrap="square" tIns="17150">
              <a:noAutofit/>
            </a:bodyPr>
            <a:lstStyle/>
            <a:p>
              <a:pPr indent="-571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Create data access classes/methods related to UPI Service  Module and </a:t>
              </a:r>
              <a:r>
                <a:rPr lang="en-GB" sz="900">
                  <a:solidFill>
                    <a:schemeClr val="dk1"/>
                  </a:solidFill>
                </a:rPr>
                <a:t>Banking Service Module.</a:t>
              </a:r>
              <a:endParaRPr sz="9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Create test classes/methods for data access classes related to UPI Service and </a:t>
              </a:r>
              <a:r>
                <a:rPr lang="en-GB" sz="900">
                  <a:solidFill>
                    <a:schemeClr val="dk1"/>
                  </a:solidFill>
                </a:rPr>
                <a:t>Banking Service Module</a:t>
              </a:r>
              <a:endParaRPr sz="9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Code review for the class/methods developed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801" name="Google Shape;801;p62"/>
            <p:cNvSpPr/>
            <p:nvPr/>
          </p:nvSpPr>
          <p:spPr>
            <a:xfrm>
              <a:off x="1967992" y="2409353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62"/>
            <p:cNvSpPr txBox="1"/>
            <p:nvPr/>
          </p:nvSpPr>
          <p:spPr>
            <a:xfrm>
              <a:off x="1967992" y="2409353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1425" lIns="31425" spcFirstLastPara="1" rIns="31425" wrap="square" tIns="3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GB" sz="1600">
                  <a:solidFill>
                    <a:srgbClr val="F85980"/>
                  </a:solidFill>
                </a:rPr>
                <a:t>4</a:t>
              </a:r>
              <a:r>
                <a:rPr baseline="30000" lang="en-GB" sz="1600">
                  <a:solidFill>
                    <a:srgbClr val="F85980"/>
                  </a:solidFill>
                </a:rPr>
                <a:t>th</a:t>
              </a:r>
              <a:r>
                <a:rPr lang="en-GB" sz="1600">
                  <a:solidFill>
                    <a:srgbClr val="F85980"/>
                  </a:solidFill>
                </a:rPr>
                <a:t>- 12</a:t>
              </a:r>
              <a:r>
                <a:rPr baseline="30000" lang="en-GB" sz="1600">
                  <a:solidFill>
                    <a:srgbClr val="F85980"/>
                  </a:solidFill>
                </a:rPr>
                <a:t>th</a:t>
              </a:r>
              <a:r>
                <a:rPr b="0" i="0" lang="en-GB" sz="1600" u="none" cap="none" strike="noStrike">
                  <a:solidFill>
                    <a:srgbClr val="F8598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600">
                  <a:solidFill>
                    <a:srgbClr val="F85980"/>
                  </a:solidFill>
                </a:rPr>
                <a:t>SEPT </a:t>
              </a:r>
              <a:r>
                <a:rPr b="0" i="0" lang="en-GB" sz="1600" u="none" cap="none" strike="noStrike">
                  <a:solidFill>
                    <a:srgbClr val="F85980"/>
                  </a:solidFill>
                  <a:latin typeface="Arial"/>
                  <a:ea typeface="Arial"/>
                  <a:cs typeface="Arial"/>
                  <a:sym typeface="Arial"/>
                </a:rPr>
                <a:t>202</a:t>
              </a:r>
              <a:r>
                <a:rPr lang="en-GB" sz="1600">
                  <a:solidFill>
                    <a:srgbClr val="F85980"/>
                  </a:solidFill>
                </a:rPr>
                <a:t>4</a:t>
              </a:r>
              <a:endParaRPr b="0" i="0" sz="1000" u="none" cap="none" strike="noStrike">
                <a:solidFill>
                  <a:srgbClr val="F859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62"/>
            <p:cNvSpPr/>
            <p:nvPr/>
          </p:nvSpPr>
          <p:spPr>
            <a:xfrm>
              <a:off x="0" y="2409353"/>
              <a:ext cx="1968000" cy="394800"/>
            </a:xfrm>
            <a:prstGeom prst="round2SameRect">
              <a:avLst>
                <a:gd fmla="val 16670" name="adj1"/>
                <a:gd fmla="val 0" name="adj2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62"/>
            <p:cNvSpPr txBox="1"/>
            <p:nvPr/>
          </p:nvSpPr>
          <p:spPr>
            <a:xfrm>
              <a:off x="19270" y="2428623"/>
              <a:ext cx="1929600" cy="3753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31425" lIns="31425" spcFirstLastPara="1" rIns="31425" wrap="square" tIns="3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Sprint </a:t>
              </a:r>
              <a:r>
                <a:rPr lang="en-GB" sz="1600">
                  <a:solidFill>
                    <a:srgbClr val="181818"/>
                  </a:solidFill>
                </a:rPr>
                <a:t>3</a:t>
              </a:r>
              <a:endParaRPr b="0" i="0" sz="10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62"/>
            <p:cNvSpPr/>
            <p:nvPr/>
          </p:nvSpPr>
          <p:spPr>
            <a:xfrm>
              <a:off x="0" y="2804034"/>
              <a:ext cx="7569300" cy="7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62"/>
            <p:cNvSpPr txBox="1"/>
            <p:nvPr/>
          </p:nvSpPr>
          <p:spPr>
            <a:xfrm>
              <a:off x="0" y="2932768"/>
              <a:ext cx="6864000" cy="8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17150" spcFirstLastPara="1" rIns="17150" wrap="square" tIns="17150">
              <a:noAutofit/>
            </a:bodyPr>
            <a:lstStyle/>
            <a:p>
              <a:pPr indent="-571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Develop business logic layer, </a:t>
              </a:r>
              <a:r>
                <a:rPr lang="en-GB" sz="900">
                  <a:solidFill>
                    <a:schemeClr val="dk1"/>
                  </a:solidFill>
                </a:rPr>
                <a:t>Spring Boot</a:t>
              </a:r>
              <a:r>
                <a:rPr lang="en-GB" sz="900">
                  <a:solidFill>
                    <a:schemeClr val="dk1"/>
                  </a:solidFill>
                </a:rPr>
                <a:t> Data JPA for UPI Service Module and </a:t>
              </a:r>
              <a:r>
                <a:rPr lang="en-GB" sz="900">
                  <a:solidFill>
                    <a:schemeClr val="dk1"/>
                  </a:solidFill>
                </a:rPr>
                <a:t>Banking Service 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Test the business logic layer, </a:t>
              </a:r>
              <a:r>
                <a:rPr lang="en-GB" sz="900">
                  <a:solidFill>
                    <a:schemeClr val="dk1"/>
                  </a:solidFill>
                </a:rPr>
                <a:t>Spring Boot</a:t>
              </a:r>
              <a:r>
                <a:rPr lang="en-GB" sz="900">
                  <a:solidFill>
                    <a:schemeClr val="dk1"/>
                  </a:solidFill>
                </a:rPr>
                <a:t> Data JPA  UPI Service  Module and </a:t>
              </a:r>
              <a:r>
                <a:rPr lang="en-GB" sz="900">
                  <a:solidFill>
                    <a:schemeClr val="dk1"/>
                  </a:solidFill>
                </a:rPr>
                <a:t>Banking Service</a:t>
              </a:r>
              <a:endParaRPr sz="9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Code review for the class/methods developed</a:t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807" name="Google Shape;807;p62"/>
            <p:cNvSpPr/>
            <p:nvPr/>
          </p:nvSpPr>
          <p:spPr>
            <a:xfrm>
              <a:off x="1967992" y="3613247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2"/>
            <p:cNvSpPr txBox="1"/>
            <p:nvPr/>
          </p:nvSpPr>
          <p:spPr>
            <a:xfrm>
              <a:off x="1967992" y="3613247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1425" lIns="31425" spcFirstLastPara="1" rIns="31425" wrap="square" tIns="3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GB" sz="1600">
                  <a:solidFill>
                    <a:srgbClr val="F85980"/>
                  </a:solidFill>
                </a:rPr>
                <a:t>14</a:t>
              </a:r>
              <a:r>
                <a:rPr baseline="30000" lang="en-GB" sz="1600">
                  <a:solidFill>
                    <a:srgbClr val="F85980"/>
                  </a:solidFill>
                </a:rPr>
                <a:t>th</a:t>
              </a:r>
              <a:r>
                <a:rPr lang="en-GB" sz="1600">
                  <a:solidFill>
                    <a:srgbClr val="F85980"/>
                  </a:solidFill>
                </a:rPr>
                <a:t>- 23</a:t>
              </a:r>
              <a:r>
                <a:rPr baseline="30000" lang="en-GB" sz="1600">
                  <a:solidFill>
                    <a:srgbClr val="F85980"/>
                  </a:solidFill>
                </a:rPr>
                <a:t>rd</a:t>
              </a:r>
              <a:r>
                <a:rPr baseline="30000" lang="en-GB" sz="1600">
                  <a:solidFill>
                    <a:srgbClr val="F85980"/>
                  </a:solidFill>
                </a:rPr>
                <a:t> </a:t>
              </a:r>
              <a:r>
                <a:rPr lang="en-GB" sz="1600">
                  <a:solidFill>
                    <a:srgbClr val="F85980"/>
                  </a:solidFill>
                </a:rPr>
                <a:t>SEPT </a:t>
              </a:r>
              <a:r>
                <a:rPr b="0" i="0" lang="en-GB" sz="1600" u="none" cap="none" strike="noStrike">
                  <a:solidFill>
                    <a:srgbClr val="F85980"/>
                  </a:solidFill>
                  <a:latin typeface="Arial"/>
                  <a:ea typeface="Arial"/>
                  <a:cs typeface="Arial"/>
                  <a:sym typeface="Arial"/>
                </a:rPr>
                <a:t>202</a:t>
              </a:r>
              <a:r>
                <a:rPr lang="en-GB" sz="1600">
                  <a:solidFill>
                    <a:srgbClr val="F85980"/>
                  </a:solidFill>
                </a:rPr>
                <a:t>4</a:t>
              </a:r>
              <a:endParaRPr b="0" i="0" sz="1000" u="none" cap="none" strike="noStrike">
                <a:solidFill>
                  <a:srgbClr val="F859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62"/>
            <p:cNvSpPr/>
            <p:nvPr/>
          </p:nvSpPr>
          <p:spPr>
            <a:xfrm>
              <a:off x="0" y="3613247"/>
              <a:ext cx="1968000" cy="394800"/>
            </a:xfrm>
            <a:prstGeom prst="round2SameRect">
              <a:avLst>
                <a:gd fmla="val 16670" name="adj1"/>
                <a:gd fmla="val 0" name="adj2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62"/>
            <p:cNvSpPr txBox="1"/>
            <p:nvPr/>
          </p:nvSpPr>
          <p:spPr>
            <a:xfrm>
              <a:off x="19270" y="3632517"/>
              <a:ext cx="1929600" cy="375300"/>
            </a:xfrm>
            <a:prstGeom prst="rect">
              <a:avLst/>
            </a:prstGeom>
            <a:solidFill>
              <a:srgbClr val="FFCFB3"/>
            </a:solidFill>
            <a:ln>
              <a:noFill/>
            </a:ln>
          </p:spPr>
          <p:txBody>
            <a:bodyPr anchorCtr="0" anchor="ctr" bIns="31425" lIns="31425" spcFirstLastPara="1" rIns="31425" wrap="square" tIns="3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Sprint </a:t>
              </a:r>
              <a:r>
                <a:rPr lang="en-GB" sz="1600">
                  <a:solidFill>
                    <a:srgbClr val="181818"/>
                  </a:solidFill>
                </a:rPr>
                <a:t>4</a:t>
              </a:r>
              <a:endParaRPr b="0" i="0" sz="16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62"/>
            <p:cNvSpPr/>
            <p:nvPr/>
          </p:nvSpPr>
          <p:spPr>
            <a:xfrm>
              <a:off x="0" y="4007927"/>
              <a:ext cx="7569300" cy="7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62"/>
            <p:cNvSpPr txBox="1"/>
            <p:nvPr/>
          </p:nvSpPr>
          <p:spPr>
            <a:xfrm>
              <a:off x="0" y="4119268"/>
              <a:ext cx="7569300" cy="90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17150" spcFirstLastPara="1" rIns="17150" wrap="square" tIns="17150">
              <a:noAutofit/>
            </a:bodyPr>
            <a:lstStyle/>
            <a:p>
              <a:pPr indent="-57150" lvl="1" marL="381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Develop  UI pages with React and CSS styling, integrate with Spring Boot Data JPA for UPI Service and </a:t>
              </a:r>
              <a:r>
                <a:rPr lang="en-GB" sz="900">
                  <a:solidFill>
                    <a:schemeClr val="dk1"/>
                  </a:solidFill>
                </a:rPr>
                <a:t>Banking Service Module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Develop data validation for pages related to UPI Service and </a:t>
              </a:r>
              <a:r>
                <a:rPr lang="en-GB" sz="900">
                  <a:solidFill>
                    <a:schemeClr val="dk1"/>
                  </a:solidFill>
                </a:rPr>
                <a:t>Banking Service</a:t>
              </a:r>
              <a:r>
                <a:rPr lang="en-GB" sz="900">
                  <a:solidFill>
                    <a:schemeClr val="dk1"/>
                  </a:solidFill>
                </a:rPr>
                <a:t> Module</a:t>
              </a:r>
              <a:endParaRPr sz="9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Review all the pages and validation code designed/developed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813" name="Google Shape;813;p62"/>
            <p:cNvSpPr/>
            <p:nvPr/>
          </p:nvSpPr>
          <p:spPr>
            <a:xfrm>
              <a:off x="1967992" y="5344407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62"/>
            <p:cNvSpPr txBox="1"/>
            <p:nvPr/>
          </p:nvSpPr>
          <p:spPr>
            <a:xfrm>
              <a:off x="1967992" y="5020340"/>
              <a:ext cx="56013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1425" lIns="31425" spcFirstLastPara="1" rIns="31425" wrap="square" tIns="3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GB" sz="1600">
                  <a:solidFill>
                    <a:srgbClr val="FC7582"/>
                  </a:solidFill>
                </a:rPr>
                <a:t>24</a:t>
              </a:r>
              <a:r>
                <a:rPr baseline="30000" lang="en-GB" sz="1600">
                  <a:solidFill>
                    <a:srgbClr val="FC7582"/>
                  </a:solidFill>
                </a:rPr>
                <a:t>th</a:t>
              </a:r>
              <a:r>
                <a:rPr lang="en-GB" sz="1600">
                  <a:solidFill>
                    <a:srgbClr val="FC7582"/>
                  </a:solidFill>
                </a:rPr>
                <a:t>- 27</a:t>
              </a:r>
              <a:r>
                <a:rPr baseline="30000" lang="en-GB" sz="1600">
                  <a:solidFill>
                    <a:srgbClr val="FC7582"/>
                  </a:solidFill>
                </a:rPr>
                <a:t>th </a:t>
              </a:r>
              <a:r>
                <a:rPr lang="en-GB" sz="1600">
                  <a:solidFill>
                    <a:srgbClr val="FC7582"/>
                  </a:solidFill>
                </a:rPr>
                <a:t>SEPT</a:t>
              </a:r>
              <a:r>
                <a:rPr b="0" i="0" lang="en-GB" sz="1600" u="none" cap="none" strike="noStrike">
                  <a:solidFill>
                    <a:srgbClr val="FC7582"/>
                  </a:solidFill>
                  <a:latin typeface="Arial"/>
                  <a:ea typeface="Arial"/>
                  <a:cs typeface="Arial"/>
                  <a:sym typeface="Arial"/>
                </a:rPr>
                <a:t> 202</a:t>
              </a:r>
              <a:r>
                <a:rPr lang="en-GB" sz="1600">
                  <a:solidFill>
                    <a:srgbClr val="FC7582"/>
                  </a:solidFill>
                </a:rPr>
                <a:t>4</a:t>
              </a:r>
              <a:endParaRPr b="0" i="0" sz="1000" u="none" cap="none" strike="noStrike">
                <a:solidFill>
                  <a:srgbClr val="FC758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62"/>
            <p:cNvSpPr/>
            <p:nvPr/>
          </p:nvSpPr>
          <p:spPr>
            <a:xfrm>
              <a:off x="0" y="5020340"/>
              <a:ext cx="1968000" cy="394800"/>
            </a:xfrm>
            <a:prstGeom prst="round2SameRect">
              <a:avLst>
                <a:gd fmla="val 16670" name="adj1"/>
                <a:gd fmla="val 0" name="adj2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62"/>
            <p:cNvSpPr txBox="1"/>
            <p:nvPr/>
          </p:nvSpPr>
          <p:spPr>
            <a:xfrm>
              <a:off x="19270" y="5039610"/>
              <a:ext cx="1929600" cy="375300"/>
            </a:xfrm>
            <a:prstGeom prst="rect">
              <a:avLst/>
            </a:prstGeom>
            <a:solidFill>
              <a:srgbClr val="E78F81"/>
            </a:solidFill>
            <a:ln>
              <a:noFill/>
            </a:ln>
          </p:spPr>
          <p:txBody>
            <a:bodyPr anchorCtr="0" anchor="ctr" bIns="31425" lIns="31425" spcFirstLastPara="1" rIns="31425" wrap="square" tIns="3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181818"/>
                  </a:solidFill>
                  <a:latin typeface="Arial"/>
                  <a:ea typeface="Arial"/>
                  <a:cs typeface="Arial"/>
                  <a:sym typeface="Arial"/>
                </a:rPr>
                <a:t>Sprint </a:t>
              </a:r>
              <a:r>
                <a:rPr lang="en-GB" sz="1600">
                  <a:solidFill>
                    <a:srgbClr val="181818"/>
                  </a:solidFill>
                </a:rPr>
                <a:t>5</a:t>
              </a:r>
              <a:endParaRPr b="0" i="0" sz="16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62"/>
            <p:cNvSpPr/>
            <p:nvPr/>
          </p:nvSpPr>
          <p:spPr>
            <a:xfrm>
              <a:off x="0" y="5618220"/>
              <a:ext cx="7569300" cy="7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62"/>
            <p:cNvSpPr txBox="1"/>
            <p:nvPr/>
          </p:nvSpPr>
          <p:spPr>
            <a:xfrm>
              <a:off x="0" y="5415020"/>
              <a:ext cx="7569300" cy="7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Migration to Spring and implement CI/CD for UPI Service and </a:t>
              </a:r>
              <a:r>
                <a:rPr lang="en-GB" sz="900">
                  <a:solidFill>
                    <a:schemeClr val="dk1"/>
                  </a:solidFill>
                </a:rPr>
                <a:t>Banking Service </a:t>
              </a:r>
              <a:r>
                <a:rPr lang="en-GB" sz="900">
                  <a:solidFill>
                    <a:schemeClr val="dk1"/>
                  </a:solidFill>
                </a:rPr>
                <a:t> Module</a:t>
              </a:r>
              <a:endParaRPr sz="9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Test the migration to Spring and test CI/CD implementation of UPI Service and </a:t>
              </a:r>
              <a:r>
                <a:rPr lang="en-GB" sz="900">
                  <a:solidFill>
                    <a:schemeClr val="dk1"/>
                  </a:solidFill>
                </a:rPr>
                <a:t>Banking Service </a:t>
              </a:r>
              <a:r>
                <a:rPr lang="en-GB" sz="900">
                  <a:solidFill>
                    <a:schemeClr val="dk1"/>
                  </a:solidFill>
                </a:rPr>
                <a:t>Module</a:t>
              </a:r>
              <a:endParaRPr sz="900">
                <a:solidFill>
                  <a:schemeClr val="dk1"/>
                </a:solidFill>
              </a:endParaRPr>
            </a:p>
            <a:p>
              <a:pPr indent="-571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•"/>
              </a:pPr>
              <a:r>
                <a:rPr lang="en-GB" sz="900">
                  <a:solidFill>
                    <a:schemeClr val="dk1"/>
                  </a:solidFill>
                </a:rPr>
                <a:t>Code review for the migration code developed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sp>
        <p:nvSpPr>
          <p:cNvPr id="819" name="Google Shape;819;p62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0" name="Google Shape;820;p62"/>
          <p:cNvSpPr txBox="1"/>
          <p:nvPr/>
        </p:nvSpPr>
        <p:spPr>
          <a:xfrm>
            <a:off x="7235550" y="806950"/>
            <a:ext cx="19203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Developers</a:t>
            </a:r>
            <a:r>
              <a:rPr lang="en-GB" sz="900">
                <a:solidFill>
                  <a:schemeClr val="dk1"/>
                </a:solidFill>
              </a:rPr>
              <a:t>: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 Meghna, Deepshika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Testers</a:t>
            </a:r>
            <a:r>
              <a:rPr lang="en-GB" sz="900">
                <a:solidFill>
                  <a:schemeClr val="dk1"/>
                </a:solidFill>
              </a:rPr>
              <a:t>: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Amrutha, Atishay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Code Reviewer</a:t>
            </a:r>
            <a:r>
              <a:rPr lang="en-GB" sz="900">
                <a:solidFill>
                  <a:schemeClr val="dk1"/>
                </a:solidFill>
              </a:rPr>
              <a:t>: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Prerak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</p:txBody>
      </p:sp>
      <p:sp>
        <p:nvSpPr>
          <p:cNvPr id="821" name="Google Shape;821;p62"/>
          <p:cNvSpPr txBox="1"/>
          <p:nvPr/>
        </p:nvSpPr>
        <p:spPr>
          <a:xfrm>
            <a:off x="7257575" y="1836300"/>
            <a:ext cx="19203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Developers</a:t>
            </a:r>
            <a:r>
              <a:rPr lang="en-GB" sz="900">
                <a:solidFill>
                  <a:schemeClr val="dk1"/>
                </a:solidFill>
              </a:rPr>
              <a:t>: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 Atishay, Prerak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Testers</a:t>
            </a:r>
            <a:r>
              <a:rPr lang="en-GB" sz="900">
                <a:solidFill>
                  <a:schemeClr val="dk1"/>
                </a:solidFill>
              </a:rPr>
              <a:t>: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Deepshika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, Meghna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Code Reviewer</a:t>
            </a:r>
            <a:r>
              <a:rPr lang="en-GB" sz="900">
                <a:solidFill>
                  <a:schemeClr val="dk1"/>
                </a:solidFill>
              </a:rPr>
              <a:t>: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Amrutha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</p:txBody>
      </p:sp>
      <p:sp>
        <p:nvSpPr>
          <p:cNvPr id="822" name="Google Shape;822;p62"/>
          <p:cNvSpPr txBox="1"/>
          <p:nvPr/>
        </p:nvSpPr>
        <p:spPr>
          <a:xfrm>
            <a:off x="7162800" y="3810000"/>
            <a:ext cx="19203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Developers</a:t>
            </a:r>
            <a:r>
              <a:rPr lang="en-GB" sz="900">
                <a:solidFill>
                  <a:schemeClr val="dk1"/>
                </a:solidFill>
              </a:rPr>
              <a:t>: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 Meghna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, Prerak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Testers</a:t>
            </a:r>
            <a:r>
              <a:rPr lang="en-GB" sz="900">
                <a:solidFill>
                  <a:schemeClr val="dk1"/>
                </a:solidFill>
              </a:rPr>
              <a:t>: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Amrutha,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Deepshika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Code Reviewer</a:t>
            </a:r>
            <a:r>
              <a:rPr lang="en-GB" sz="900">
                <a:solidFill>
                  <a:schemeClr val="dk1"/>
                </a:solidFill>
              </a:rPr>
              <a:t>: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Atishay</a:t>
            </a:r>
            <a:endParaRPr/>
          </a:p>
        </p:txBody>
      </p:sp>
      <p:sp>
        <p:nvSpPr>
          <p:cNvPr id="823" name="Google Shape;823;p62"/>
          <p:cNvSpPr txBox="1"/>
          <p:nvPr/>
        </p:nvSpPr>
        <p:spPr>
          <a:xfrm>
            <a:off x="7223700" y="2784425"/>
            <a:ext cx="19203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Developers</a:t>
            </a:r>
            <a:r>
              <a:rPr lang="en-GB" sz="900">
                <a:solidFill>
                  <a:schemeClr val="dk1"/>
                </a:solidFill>
              </a:rPr>
              <a:t>: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 Amrutha,Atishay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Testers</a:t>
            </a:r>
            <a:r>
              <a:rPr lang="en-GB" sz="900">
                <a:solidFill>
                  <a:schemeClr val="dk1"/>
                </a:solidFill>
              </a:rPr>
              <a:t>: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Deepshika, Prerak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Code Reviewer</a:t>
            </a:r>
            <a:r>
              <a:rPr lang="en-GB" sz="900">
                <a:solidFill>
                  <a:schemeClr val="dk1"/>
                </a:solidFill>
              </a:rPr>
              <a:t>: </a:t>
            </a:r>
            <a:r>
              <a:rPr lang="en-GB" sz="900">
                <a:solidFill>
                  <a:schemeClr val="dk1"/>
                </a:solidFill>
                <a:highlight>
                  <a:srgbClr val="FFF5CD"/>
                </a:highlight>
              </a:rPr>
              <a:t>Meghna</a:t>
            </a:r>
            <a:endParaRPr sz="900">
              <a:solidFill>
                <a:schemeClr val="dk1"/>
              </a:solidFill>
              <a:highlight>
                <a:srgbClr val="FFF5CD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3"/>
          <p:cNvSpPr txBox="1"/>
          <p:nvPr>
            <p:ph idx="1" type="body"/>
          </p:nvPr>
        </p:nvSpPr>
        <p:spPr>
          <a:xfrm>
            <a:off x="112700" y="49251"/>
            <a:ext cx="90312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Conclusion</a:t>
            </a:r>
            <a:endParaRPr/>
          </a:p>
        </p:txBody>
      </p:sp>
      <p:sp>
        <p:nvSpPr>
          <p:cNvPr id="830" name="Google Shape;830;p63"/>
          <p:cNvSpPr txBox="1"/>
          <p:nvPr>
            <p:ph idx="3" type="body"/>
          </p:nvPr>
        </p:nvSpPr>
        <p:spPr>
          <a:xfrm>
            <a:off x="172547" y="806955"/>
            <a:ext cx="14094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solidFill>
                  <a:schemeClr val="dk1"/>
                </a:solidFill>
              </a:rPr>
              <a:t>Technical Requirement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Functionalities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831" name="Google Shape;831;p63"/>
          <p:cNvSpPr/>
          <p:nvPr/>
        </p:nvSpPr>
        <p:spPr>
          <a:xfrm>
            <a:off x="172547" y="3958193"/>
            <a:ext cx="1211100" cy="318300"/>
          </a:xfrm>
          <a:prstGeom prst="homePlate">
            <a:avLst>
              <a:gd fmla="val 50000" name="adj"/>
            </a:avLst>
          </a:prstGeom>
          <a:noFill/>
          <a:ln cap="flat" cmpd="sng" w="412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63"/>
          <p:cNvSpPr txBox="1"/>
          <p:nvPr>
            <p:ph idx="12" type="sldNum"/>
          </p:nvPr>
        </p:nvSpPr>
        <p:spPr>
          <a:xfrm>
            <a:off x="6348756" y="3560450"/>
            <a:ext cx="353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3" name="Google Shape;833;p63"/>
          <p:cNvSpPr/>
          <p:nvPr/>
        </p:nvSpPr>
        <p:spPr>
          <a:xfrm>
            <a:off x="4502726" y="2429668"/>
            <a:ext cx="138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63"/>
          <p:cNvSpPr txBox="1"/>
          <p:nvPr/>
        </p:nvSpPr>
        <p:spPr>
          <a:xfrm>
            <a:off x="1730900" y="806955"/>
            <a:ext cx="6614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794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GB" sz="1300">
                <a:solidFill>
                  <a:schemeClr val="dk1"/>
                </a:solidFill>
              </a:rPr>
              <a:t>This project </a:t>
            </a:r>
            <a:r>
              <a:rPr b="1" lang="en-GB" sz="1300">
                <a:solidFill>
                  <a:schemeClr val="dk1"/>
                </a:solidFill>
              </a:rPr>
              <a:t>streamlines the entire payment process</a:t>
            </a:r>
            <a:r>
              <a:rPr lang="en-GB" sz="1300">
                <a:solidFill>
                  <a:schemeClr val="dk1"/>
                </a:solidFill>
              </a:rPr>
              <a:t>, making it efficient and secure for users to manage their transactions.</a:t>
            </a:r>
            <a:r>
              <a:rPr b="0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30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330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GB" sz="1300">
                <a:solidFill>
                  <a:schemeClr val="dk1"/>
                </a:solidFill>
              </a:rPr>
              <a:t>The system maintains</a:t>
            </a:r>
            <a:r>
              <a:rPr b="1" lang="en-GB" sz="1300">
                <a:solidFill>
                  <a:schemeClr val="dk1"/>
                </a:solidFill>
              </a:rPr>
              <a:t> comprehensive details of customers</a:t>
            </a:r>
            <a:r>
              <a:rPr lang="en-GB" sz="1300">
                <a:solidFill>
                  <a:schemeClr val="dk1"/>
                </a:solidFill>
              </a:rPr>
              <a:t> and their payment histories, providing transparency and accountability.</a:t>
            </a:r>
            <a:r>
              <a:rPr b="0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30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330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GB" sz="1300">
                <a:solidFill>
                  <a:schemeClr val="dk1"/>
                </a:solidFill>
              </a:rPr>
              <a:t>By automating tasks such as </a:t>
            </a:r>
            <a:r>
              <a:rPr b="1" lang="en-GB" sz="1300">
                <a:solidFill>
                  <a:schemeClr val="dk1"/>
                </a:solidFill>
              </a:rPr>
              <a:t>payment authorization and failure handling</a:t>
            </a:r>
            <a:r>
              <a:rPr lang="en-GB" sz="1300">
                <a:solidFill>
                  <a:schemeClr val="dk1"/>
                </a:solidFill>
              </a:rPr>
              <a:t>, the project minimizes manual efforts and ensures smooth, error-free transactions for both users and administrators.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63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36" name="Google Shape;83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0700" y="2813500"/>
            <a:ext cx="2308275" cy="23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4"/>
          <p:cNvSpPr txBox="1"/>
          <p:nvPr>
            <p:ph idx="2" type="body"/>
          </p:nvPr>
        </p:nvSpPr>
        <p:spPr>
          <a:xfrm>
            <a:off x="178549" y="-67656"/>
            <a:ext cx="83298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i="1" lang="en-GB" sz="4500">
                <a:solidFill>
                  <a:srgbClr val="E78F81"/>
                </a:solidFill>
              </a:rPr>
              <a:t>Questions?</a:t>
            </a:r>
            <a:endParaRPr i="1">
              <a:solidFill>
                <a:srgbClr val="E78F81"/>
              </a:solidFill>
            </a:endParaRPr>
          </a:p>
        </p:txBody>
      </p:sp>
      <p:pic>
        <p:nvPicPr>
          <p:cNvPr descr="Image result for Queries" id="842" name="Google Shape;84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8077" y="2297203"/>
            <a:ext cx="2986088" cy="1928813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64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65"/>
          <p:cNvSpPr txBox="1"/>
          <p:nvPr/>
        </p:nvSpPr>
        <p:spPr>
          <a:xfrm>
            <a:off x="2905684" y="2140095"/>
            <a:ext cx="63012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GB" sz="4500" u="none" cap="none" strike="noStrike">
                <a:solidFill>
                  <a:srgbClr val="E78F8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r>
              <a:rPr lang="en-GB" sz="4800">
                <a:solidFill>
                  <a:srgbClr val="E78F81"/>
                </a:solidFill>
              </a:rPr>
              <a:t>!</a:t>
            </a:r>
            <a:endParaRPr b="0" i="0" sz="4800" u="none" cap="none" strike="noStrike">
              <a:solidFill>
                <a:srgbClr val="E78F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65"/>
          <p:cNvSpPr txBox="1"/>
          <p:nvPr>
            <p:ph idx="12" type="sldNum"/>
          </p:nvPr>
        </p:nvSpPr>
        <p:spPr>
          <a:xfrm>
            <a:off x="8421127" y="4761900"/>
            <a:ext cx="40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vesment Business Plan by Slidego">
  <a:themeElements>
    <a:clrScheme name="Simple Light">
      <a:dk1>
        <a:srgbClr val="434343"/>
      </a:dk1>
      <a:lt1>
        <a:srgbClr val="F3F3F3"/>
      </a:lt1>
      <a:dk2>
        <a:srgbClr val="3D4658"/>
      </a:dk2>
      <a:lt2>
        <a:srgbClr val="EEEEEE"/>
      </a:lt2>
      <a:accent1>
        <a:srgbClr val="434343"/>
      </a:accent1>
      <a:accent2>
        <a:srgbClr val="434343"/>
      </a:accent2>
      <a:accent3>
        <a:srgbClr val="434343"/>
      </a:accent3>
      <a:accent4>
        <a:srgbClr val="434343"/>
      </a:accent4>
      <a:accent5>
        <a:srgbClr val="434343"/>
      </a:accent5>
      <a:accent6>
        <a:srgbClr val="434343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